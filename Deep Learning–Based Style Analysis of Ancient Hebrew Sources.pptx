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7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208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8703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19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6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26" Type="http://schemas.openxmlformats.org/officeDocument/2006/relationships/image" Target="../media/image55.png"/><Relationship Id="rId3" Type="http://schemas.openxmlformats.org/officeDocument/2006/relationships/image" Target="../media/image1.png"/><Relationship Id="rId21" Type="http://schemas.openxmlformats.org/officeDocument/2006/relationships/image" Target="../media/image16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17" Type="http://schemas.openxmlformats.org/officeDocument/2006/relationships/image" Target="../media/image47.png"/><Relationship Id="rId25" Type="http://schemas.openxmlformats.org/officeDocument/2006/relationships/image" Target="../media/image54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6.png"/><Relationship Id="rId20" Type="http://schemas.openxmlformats.org/officeDocument/2006/relationships/image" Target="../media/image50.png"/><Relationship Id="rId29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24" Type="http://schemas.openxmlformats.org/officeDocument/2006/relationships/image" Target="../media/image53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23" Type="http://schemas.openxmlformats.org/officeDocument/2006/relationships/image" Target="../media/image52.png"/><Relationship Id="rId28" Type="http://schemas.openxmlformats.org/officeDocument/2006/relationships/image" Target="../media/image57.png"/><Relationship Id="rId10" Type="http://schemas.openxmlformats.org/officeDocument/2006/relationships/image" Target="../media/image40.png"/><Relationship Id="rId19" Type="http://schemas.openxmlformats.org/officeDocument/2006/relationships/image" Target="../media/image49.png"/><Relationship Id="rId4" Type="http://schemas.openxmlformats.org/officeDocument/2006/relationships/image" Target="../media/image6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Relationship Id="rId22" Type="http://schemas.openxmlformats.org/officeDocument/2006/relationships/image" Target="../media/image51.png"/><Relationship Id="rId27" Type="http://schemas.openxmlformats.org/officeDocument/2006/relationships/image" Target="../media/image56.png"/><Relationship Id="rId30" Type="http://schemas.openxmlformats.org/officeDocument/2006/relationships/image" Target="../media/image5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18" Type="http://schemas.openxmlformats.org/officeDocument/2006/relationships/image" Target="../media/image73.png"/><Relationship Id="rId3" Type="http://schemas.openxmlformats.org/officeDocument/2006/relationships/image" Target="../media/image1.png"/><Relationship Id="rId21" Type="http://schemas.openxmlformats.org/officeDocument/2006/relationships/image" Target="../media/image76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17" Type="http://schemas.openxmlformats.org/officeDocument/2006/relationships/image" Target="../media/image72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71.png"/><Relationship Id="rId20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5" Type="http://schemas.openxmlformats.org/officeDocument/2006/relationships/image" Target="../media/image70.png"/><Relationship Id="rId10" Type="http://schemas.openxmlformats.org/officeDocument/2006/relationships/image" Target="../media/image65.png"/><Relationship Id="rId19" Type="http://schemas.openxmlformats.org/officeDocument/2006/relationships/image" Target="../media/image74.png"/><Relationship Id="rId4" Type="http://schemas.openxmlformats.org/officeDocument/2006/relationships/image" Target="../media/image6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Relationship Id="rId22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5.png"/><Relationship Id="rId18" Type="http://schemas.openxmlformats.org/officeDocument/2006/relationships/image" Target="../media/image90.png"/><Relationship Id="rId26" Type="http://schemas.openxmlformats.org/officeDocument/2006/relationships/image" Target="../media/image97.png"/><Relationship Id="rId3" Type="http://schemas.openxmlformats.org/officeDocument/2006/relationships/image" Target="../media/image1.png"/><Relationship Id="rId21" Type="http://schemas.openxmlformats.org/officeDocument/2006/relationships/image" Target="../media/image16.png"/><Relationship Id="rId7" Type="http://schemas.openxmlformats.org/officeDocument/2006/relationships/image" Target="../media/image79.png"/><Relationship Id="rId12" Type="http://schemas.openxmlformats.org/officeDocument/2006/relationships/image" Target="../media/image84.png"/><Relationship Id="rId17" Type="http://schemas.openxmlformats.org/officeDocument/2006/relationships/image" Target="../media/image89.png"/><Relationship Id="rId25" Type="http://schemas.openxmlformats.org/officeDocument/2006/relationships/image" Target="../media/image96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88.png"/><Relationship Id="rId20" Type="http://schemas.openxmlformats.org/officeDocument/2006/relationships/image" Target="../media/image92.png"/><Relationship Id="rId29" Type="http://schemas.openxmlformats.org/officeDocument/2006/relationships/image" Target="../media/image10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11" Type="http://schemas.openxmlformats.org/officeDocument/2006/relationships/image" Target="../media/image83.png"/><Relationship Id="rId24" Type="http://schemas.openxmlformats.org/officeDocument/2006/relationships/image" Target="../media/image95.png"/><Relationship Id="rId32" Type="http://schemas.openxmlformats.org/officeDocument/2006/relationships/image" Target="../media/image103.png"/><Relationship Id="rId5" Type="http://schemas.openxmlformats.org/officeDocument/2006/relationships/image" Target="../media/image77.png"/><Relationship Id="rId15" Type="http://schemas.openxmlformats.org/officeDocument/2006/relationships/image" Target="../media/image87.png"/><Relationship Id="rId23" Type="http://schemas.openxmlformats.org/officeDocument/2006/relationships/image" Target="../media/image94.png"/><Relationship Id="rId28" Type="http://schemas.openxmlformats.org/officeDocument/2006/relationships/image" Target="../media/image99.png"/><Relationship Id="rId10" Type="http://schemas.openxmlformats.org/officeDocument/2006/relationships/image" Target="../media/image82.png"/><Relationship Id="rId19" Type="http://schemas.openxmlformats.org/officeDocument/2006/relationships/image" Target="../media/image91.png"/><Relationship Id="rId31" Type="http://schemas.openxmlformats.org/officeDocument/2006/relationships/image" Target="../media/image102.png"/><Relationship Id="rId4" Type="http://schemas.openxmlformats.org/officeDocument/2006/relationships/image" Target="../media/image6.png"/><Relationship Id="rId9" Type="http://schemas.openxmlformats.org/officeDocument/2006/relationships/image" Target="../media/image81.png"/><Relationship Id="rId14" Type="http://schemas.openxmlformats.org/officeDocument/2006/relationships/image" Target="../media/image86.png"/><Relationship Id="rId22" Type="http://schemas.openxmlformats.org/officeDocument/2006/relationships/image" Target="../media/image93.png"/><Relationship Id="rId27" Type="http://schemas.openxmlformats.org/officeDocument/2006/relationships/image" Target="../media/image98.png"/><Relationship Id="rId30" Type="http://schemas.openxmlformats.org/officeDocument/2006/relationships/image" Target="../media/image10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.png"/><Relationship Id="rId7" Type="http://schemas.openxmlformats.org/officeDocument/2006/relationships/image" Target="../media/image10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10" Type="http://schemas.openxmlformats.org/officeDocument/2006/relationships/image" Target="../media/image109.png"/><Relationship Id="rId4" Type="http://schemas.openxmlformats.org/officeDocument/2006/relationships/image" Target="../media/image6.png"/><Relationship Id="rId9" Type="http://schemas.openxmlformats.org/officeDocument/2006/relationships/image" Target="../media/image10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118.png"/><Relationship Id="rId3" Type="http://schemas.openxmlformats.org/officeDocument/2006/relationships/image" Target="../media/image1.png"/><Relationship Id="rId7" Type="http://schemas.openxmlformats.org/officeDocument/2006/relationships/image" Target="../media/image112.png"/><Relationship Id="rId12" Type="http://schemas.openxmlformats.org/officeDocument/2006/relationships/image" Target="../media/image117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1.png"/><Relationship Id="rId11" Type="http://schemas.openxmlformats.org/officeDocument/2006/relationships/image" Target="../media/image116.png"/><Relationship Id="rId5" Type="http://schemas.openxmlformats.org/officeDocument/2006/relationships/image" Target="../media/image110.png"/><Relationship Id="rId15" Type="http://schemas.openxmlformats.org/officeDocument/2006/relationships/image" Target="../media/image120.png"/><Relationship Id="rId10" Type="http://schemas.openxmlformats.org/officeDocument/2006/relationships/image" Target="../media/image115.png"/><Relationship Id="rId4" Type="http://schemas.openxmlformats.org/officeDocument/2006/relationships/image" Target="../media/image6.png"/><Relationship Id="rId9" Type="http://schemas.openxmlformats.org/officeDocument/2006/relationships/image" Target="../media/image114.png"/><Relationship Id="rId14" Type="http://schemas.openxmlformats.org/officeDocument/2006/relationships/image" Target="../media/image1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13" Type="http://schemas.openxmlformats.org/officeDocument/2006/relationships/image" Target="../media/image131.png"/><Relationship Id="rId18" Type="http://schemas.openxmlformats.org/officeDocument/2006/relationships/image" Target="../media/image103.png"/><Relationship Id="rId3" Type="http://schemas.openxmlformats.org/officeDocument/2006/relationships/image" Target="../media/image122.png"/><Relationship Id="rId7" Type="http://schemas.openxmlformats.org/officeDocument/2006/relationships/image" Target="../media/image125.png"/><Relationship Id="rId12" Type="http://schemas.openxmlformats.org/officeDocument/2006/relationships/image" Target="../media/image130.png"/><Relationship Id="rId17" Type="http://schemas.openxmlformats.org/officeDocument/2006/relationships/image" Target="../media/image135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4.png"/><Relationship Id="rId11" Type="http://schemas.openxmlformats.org/officeDocument/2006/relationships/image" Target="../media/image129.png"/><Relationship Id="rId5" Type="http://schemas.openxmlformats.org/officeDocument/2006/relationships/image" Target="../media/image123.png"/><Relationship Id="rId15" Type="http://schemas.openxmlformats.org/officeDocument/2006/relationships/image" Target="../media/image133.png"/><Relationship Id="rId10" Type="http://schemas.openxmlformats.org/officeDocument/2006/relationships/image" Target="../media/image128.png"/><Relationship Id="rId4" Type="http://schemas.openxmlformats.org/officeDocument/2006/relationships/image" Target="../media/image6.png"/><Relationship Id="rId9" Type="http://schemas.openxmlformats.org/officeDocument/2006/relationships/image" Target="../media/image127.png"/><Relationship Id="rId14" Type="http://schemas.openxmlformats.org/officeDocument/2006/relationships/image" Target="../media/image1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143.png"/><Relationship Id="rId3" Type="http://schemas.openxmlformats.org/officeDocument/2006/relationships/image" Target="../media/image1.png"/><Relationship Id="rId7" Type="http://schemas.openxmlformats.org/officeDocument/2006/relationships/image" Target="../media/image138.png"/><Relationship Id="rId12" Type="http://schemas.openxmlformats.org/officeDocument/2006/relationships/image" Target="../media/image142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7.png"/><Relationship Id="rId11" Type="http://schemas.openxmlformats.org/officeDocument/2006/relationships/image" Target="../media/image141.png"/><Relationship Id="rId5" Type="http://schemas.openxmlformats.org/officeDocument/2006/relationships/image" Target="../media/image136.png"/><Relationship Id="rId15" Type="http://schemas.openxmlformats.org/officeDocument/2006/relationships/image" Target="../media/image54.png"/><Relationship Id="rId10" Type="http://schemas.openxmlformats.org/officeDocument/2006/relationships/image" Target="../media/image140.png"/><Relationship Id="rId4" Type="http://schemas.openxmlformats.org/officeDocument/2006/relationships/image" Target="../media/image6.png"/><Relationship Id="rId9" Type="http://schemas.openxmlformats.org/officeDocument/2006/relationships/image" Target="../media/image139.png"/><Relationship Id="rId14" Type="http://schemas.openxmlformats.org/officeDocument/2006/relationships/image" Target="../media/image14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13" Type="http://schemas.openxmlformats.org/officeDocument/2006/relationships/image" Target="../media/image153.png"/><Relationship Id="rId3" Type="http://schemas.openxmlformats.org/officeDocument/2006/relationships/image" Target="../media/image1.png"/><Relationship Id="rId7" Type="http://schemas.openxmlformats.org/officeDocument/2006/relationships/image" Target="../media/image147.png"/><Relationship Id="rId12" Type="http://schemas.openxmlformats.org/officeDocument/2006/relationships/image" Target="../media/image152.png"/><Relationship Id="rId17" Type="http://schemas.openxmlformats.org/officeDocument/2006/relationships/image" Target="../media/image157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5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6.png"/><Relationship Id="rId11" Type="http://schemas.openxmlformats.org/officeDocument/2006/relationships/image" Target="../media/image151.png"/><Relationship Id="rId5" Type="http://schemas.openxmlformats.org/officeDocument/2006/relationships/image" Target="../media/image145.png"/><Relationship Id="rId15" Type="http://schemas.openxmlformats.org/officeDocument/2006/relationships/image" Target="../media/image155.png"/><Relationship Id="rId10" Type="http://schemas.openxmlformats.org/officeDocument/2006/relationships/image" Target="../media/image150.png"/><Relationship Id="rId4" Type="http://schemas.openxmlformats.org/officeDocument/2006/relationships/image" Target="../media/image6.png"/><Relationship Id="rId9" Type="http://schemas.openxmlformats.org/officeDocument/2006/relationships/image" Target="../media/image149.png"/><Relationship Id="rId14" Type="http://schemas.openxmlformats.org/officeDocument/2006/relationships/image" Target="../media/image15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166.png"/><Relationship Id="rId3" Type="http://schemas.openxmlformats.org/officeDocument/2006/relationships/image" Target="../media/image158.png"/><Relationship Id="rId7" Type="http://schemas.openxmlformats.org/officeDocument/2006/relationships/image" Target="../media/image161.png"/><Relationship Id="rId12" Type="http://schemas.openxmlformats.org/officeDocument/2006/relationships/image" Target="../media/image16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0.png"/><Relationship Id="rId11" Type="http://schemas.openxmlformats.org/officeDocument/2006/relationships/image" Target="../media/image164.png"/><Relationship Id="rId5" Type="http://schemas.openxmlformats.org/officeDocument/2006/relationships/image" Target="../media/image159.png"/><Relationship Id="rId15" Type="http://schemas.openxmlformats.org/officeDocument/2006/relationships/image" Target="../media/image21.png"/><Relationship Id="rId10" Type="http://schemas.openxmlformats.org/officeDocument/2006/relationships/image" Target="../media/image163.png"/><Relationship Id="rId4" Type="http://schemas.openxmlformats.org/officeDocument/2006/relationships/image" Target="../media/image6.png"/><Relationship Id="rId9" Type="http://schemas.openxmlformats.org/officeDocument/2006/relationships/image" Target="../media/image162.png"/><Relationship Id="rId14" Type="http://schemas.openxmlformats.org/officeDocument/2006/relationships/image" Target="../media/image16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13" Type="http://schemas.openxmlformats.org/officeDocument/2006/relationships/image" Target="../media/image175.png"/><Relationship Id="rId18" Type="http://schemas.openxmlformats.org/officeDocument/2006/relationships/image" Target="../media/image179.png"/><Relationship Id="rId3" Type="http://schemas.openxmlformats.org/officeDocument/2006/relationships/image" Target="../media/image1.png"/><Relationship Id="rId7" Type="http://schemas.openxmlformats.org/officeDocument/2006/relationships/image" Target="../media/image170.png"/><Relationship Id="rId12" Type="http://schemas.openxmlformats.org/officeDocument/2006/relationships/image" Target="../media/image174.png"/><Relationship Id="rId17" Type="http://schemas.openxmlformats.org/officeDocument/2006/relationships/image" Target="../media/image178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0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9.png"/><Relationship Id="rId11" Type="http://schemas.openxmlformats.org/officeDocument/2006/relationships/image" Target="../media/image173.png"/><Relationship Id="rId5" Type="http://schemas.openxmlformats.org/officeDocument/2006/relationships/image" Target="../media/image168.png"/><Relationship Id="rId15" Type="http://schemas.openxmlformats.org/officeDocument/2006/relationships/image" Target="../media/image177.png"/><Relationship Id="rId10" Type="http://schemas.openxmlformats.org/officeDocument/2006/relationships/image" Target="../media/image172.png"/><Relationship Id="rId19" Type="http://schemas.openxmlformats.org/officeDocument/2006/relationships/image" Target="../media/image180.png"/><Relationship Id="rId4" Type="http://schemas.openxmlformats.org/officeDocument/2006/relationships/image" Target="../media/image6.png"/><Relationship Id="rId9" Type="http://schemas.openxmlformats.org/officeDocument/2006/relationships/image" Target="../media/image66.png"/><Relationship Id="rId14" Type="http://schemas.openxmlformats.org/officeDocument/2006/relationships/image" Target="../media/image17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png"/><Relationship Id="rId13" Type="http://schemas.openxmlformats.org/officeDocument/2006/relationships/image" Target="../media/image189.png"/><Relationship Id="rId18" Type="http://schemas.openxmlformats.org/officeDocument/2006/relationships/image" Target="../media/image194.png"/><Relationship Id="rId3" Type="http://schemas.openxmlformats.org/officeDocument/2006/relationships/image" Target="../media/image1.png"/><Relationship Id="rId21" Type="http://schemas.openxmlformats.org/officeDocument/2006/relationships/image" Target="../media/image197.png"/><Relationship Id="rId7" Type="http://schemas.openxmlformats.org/officeDocument/2006/relationships/image" Target="../media/image183.png"/><Relationship Id="rId12" Type="http://schemas.openxmlformats.org/officeDocument/2006/relationships/image" Target="../media/image188.png"/><Relationship Id="rId17" Type="http://schemas.openxmlformats.org/officeDocument/2006/relationships/image" Target="../media/image193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92.png"/><Relationship Id="rId20" Type="http://schemas.openxmlformats.org/officeDocument/2006/relationships/image" Target="../media/image19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2.png"/><Relationship Id="rId11" Type="http://schemas.openxmlformats.org/officeDocument/2006/relationships/image" Target="../media/image187.png"/><Relationship Id="rId5" Type="http://schemas.openxmlformats.org/officeDocument/2006/relationships/image" Target="../media/image181.png"/><Relationship Id="rId15" Type="http://schemas.openxmlformats.org/officeDocument/2006/relationships/image" Target="../media/image191.png"/><Relationship Id="rId23" Type="http://schemas.openxmlformats.org/officeDocument/2006/relationships/image" Target="../media/image199.png"/><Relationship Id="rId10" Type="http://schemas.openxmlformats.org/officeDocument/2006/relationships/image" Target="../media/image186.png"/><Relationship Id="rId19" Type="http://schemas.openxmlformats.org/officeDocument/2006/relationships/image" Target="../media/image195.png"/><Relationship Id="rId4" Type="http://schemas.openxmlformats.org/officeDocument/2006/relationships/image" Target="../media/image6.png"/><Relationship Id="rId9" Type="http://schemas.openxmlformats.org/officeDocument/2006/relationships/image" Target="../media/image185.png"/><Relationship Id="rId14" Type="http://schemas.openxmlformats.org/officeDocument/2006/relationships/image" Target="../media/image190.png"/><Relationship Id="rId22" Type="http://schemas.openxmlformats.org/officeDocument/2006/relationships/image" Target="../media/image19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png"/><Relationship Id="rId13" Type="http://schemas.openxmlformats.org/officeDocument/2006/relationships/image" Target="../media/image209.png"/><Relationship Id="rId18" Type="http://schemas.openxmlformats.org/officeDocument/2006/relationships/image" Target="../media/image214.png"/><Relationship Id="rId26" Type="http://schemas.openxmlformats.org/officeDocument/2006/relationships/image" Target="../media/image222.png"/><Relationship Id="rId3" Type="http://schemas.openxmlformats.org/officeDocument/2006/relationships/image" Target="../media/image200.png"/><Relationship Id="rId21" Type="http://schemas.openxmlformats.org/officeDocument/2006/relationships/image" Target="../media/image217.png"/><Relationship Id="rId7" Type="http://schemas.openxmlformats.org/officeDocument/2006/relationships/image" Target="../media/image203.png"/><Relationship Id="rId12" Type="http://schemas.openxmlformats.org/officeDocument/2006/relationships/image" Target="../media/image208.png"/><Relationship Id="rId17" Type="http://schemas.openxmlformats.org/officeDocument/2006/relationships/image" Target="../media/image213.png"/><Relationship Id="rId25" Type="http://schemas.openxmlformats.org/officeDocument/2006/relationships/image" Target="../media/image221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212.png"/><Relationship Id="rId20" Type="http://schemas.openxmlformats.org/officeDocument/2006/relationships/image" Target="../media/image2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2.png"/><Relationship Id="rId11" Type="http://schemas.openxmlformats.org/officeDocument/2006/relationships/image" Target="../media/image207.png"/><Relationship Id="rId24" Type="http://schemas.openxmlformats.org/officeDocument/2006/relationships/image" Target="../media/image220.png"/><Relationship Id="rId5" Type="http://schemas.openxmlformats.org/officeDocument/2006/relationships/image" Target="../media/image201.png"/><Relationship Id="rId15" Type="http://schemas.openxmlformats.org/officeDocument/2006/relationships/image" Target="../media/image211.png"/><Relationship Id="rId23" Type="http://schemas.openxmlformats.org/officeDocument/2006/relationships/image" Target="../media/image219.png"/><Relationship Id="rId28" Type="http://schemas.openxmlformats.org/officeDocument/2006/relationships/image" Target="../media/image199.png"/><Relationship Id="rId10" Type="http://schemas.openxmlformats.org/officeDocument/2006/relationships/image" Target="../media/image206.png"/><Relationship Id="rId19" Type="http://schemas.openxmlformats.org/officeDocument/2006/relationships/image" Target="../media/image215.png"/><Relationship Id="rId4" Type="http://schemas.openxmlformats.org/officeDocument/2006/relationships/image" Target="../media/image6.png"/><Relationship Id="rId9" Type="http://schemas.openxmlformats.org/officeDocument/2006/relationships/image" Target="../media/image205.png"/><Relationship Id="rId14" Type="http://schemas.openxmlformats.org/officeDocument/2006/relationships/image" Target="../media/image210.png"/><Relationship Id="rId22" Type="http://schemas.openxmlformats.org/officeDocument/2006/relationships/image" Target="../media/image218.png"/><Relationship Id="rId27" Type="http://schemas.openxmlformats.org/officeDocument/2006/relationships/image" Target="../media/image2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53000"/>
            <a:ext cx="12192000" cy="1905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09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38800" y="4133850"/>
            <a:ext cx="914400" cy="381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62000" y="2038350"/>
            <a:ext cx="106680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1182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Deep Learning–Based Style Analysis of Ancient Hebrew Sources</a:t>
            </a:r>
            <a:endParaRPr lang="en-US" sz="3600" dirty="0"/>
          </a:p>
        </p:txBody>
      </p:sp>
      <p:sp>
        <p:nvSpPr>
          <p:cNvPr id="7" name="Text 1"/>
          <p:cNvSpPr/>
          <p:nvPr/>
        </p:nvSpPr>
        <p:spPr>
          <a:xfrm>
            <a:off x="2687017" y="3181350"/>
            <a:ext cx="6817816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2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Case study: The Torah authorship</a:t>
            </a:r>
            <a:endParaRPr lang="en-US" sz="2250" dirty="0"/>
          </a:p>
        </p:txBody>
      </p:sp>
      <p:sp>
        <p:nvSpPr>
          <p:cNvPr id="9" name="Text 3"/>
          <p:cNvSpPr/>
          <p:nvPr/>
        </p:nvSpPr>
        <p:spPr>
          <a:xfrm>
            <a:off x="381000" y="6457950"/>
            <a:ext cx="183701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Academic Presentation</a:t>
            </a:r>
            <a:endParaRPr lang="en-US" sz="1050" dirty="0"/>
          </a:p>
        </p:txBody>
      </p:sp>
      <p:sp>
        <p:nvSpPr>
          <p:cNvPr id="10" name="Text 4"/>
          <p:cNvSpPr/>
          <p:nvPr/>
        </p:nvSpPr>
        <p:spPr>
          <a:xfrm>
            <a:off x="11203930" y="6457950"/>
            <a:ext cx="72848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15 Slides</a:t>
            </a:r>
            <a:endParaRPr lang="en-US" sz="1050" dirty="0"/>
          </a:p>
        </p:txBody>
      </p:sp>
      <p:pic>
        <p:nvPicPr>
          <p:cNvPr id="11" name="image1.png" descr="A close up of a logo&#10;&#10;Description automatically generated">
            <a:extLst>
              <a:ext uri="{FF2B5EF4-FFF2-40B4-BE49-F238E27FC236}">
                <a16:creationId xmlns:a16="http://schemas.microsoft.com/office/drawing/2014/main" id="{728F2B03-1DBE-F934-BBFF-EBF3F66C2ED3}"/>
              </a:ext>
            </a:extLst>
          </p:cNvPr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4445877" y="864235"/>
            <a:ext cx="3300095" cy="774065"/>
          </a:xfrm>
          <a:prstGeom prst="rect">
            <a:avLst/>
          </a:prstGeom>
          <a:ln/>
        </p:spPr>
      </p:pic>
      <p:sp>
        <p:nvSpPr>
          <p:cNvPr id="12" name="Text 2">
            <a:extLst>
              <a:ext uri="{FF2B5EF4-FFF2-40B4-BE49-F238E27FC236}">
                <a16:creationId xmlns:a16="http://schemas.microsoft.com/office/drawing/2014/main" id="{50798980-E004-DB1E-B98D-45D830FFA0AC}"/>
              </a:ext>
            </a:extLst>
          </p:cNvPr>
          <p:cNvSpPr/>
          <p:nvPr/>
        </p:nvSpPr>
        <p:spPr>
          <a:xfrm>
            <a:off x="1650725" y="4429125"/>
            <a:ext cx="889039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he-IL" sz="150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2</a:t>
            </a:r>
            <a:r>
              <a:rPr lang="en-US" sz="150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6-1-R-19</a:t>
            </a:r>
          </a:p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By: </a:t>
            </a:r>
            <a:r>
              <a:rPr lang="en-US" sz="24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Alexander Grumman &amp; Shlomo Zrihan</a:t>
            </a:r>
            <a:r>
              <a:rPr lang="en-US" sz="15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.</a:t>
            </a:r>
          </a:p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Advisor:</a:t>
            </a:r>
            <a:r>
              <a:rPr lang="en-US" sz="15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</a:rPr>
              <a:t>Dr. Renata Avros Prof. Zeev Volkovich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543050"/>
            <a:ext cx="5600700" cy="2857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190750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2324100"/>
            <a:ext cx="28575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914650"/>
            <a:ext cx="571500" cy="571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525" y="3048000"/>
            <a:ext cx="17145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3638550"/>
            <a:ext cx="571500" cy="571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2950" y="3771900"/>
            <a:ext cx="2286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300" y="1543050"/>
            <a:ext cx="5600700" cy="2857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0800" y="2190750"/>
            <a:ext cx="571500" cy="571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72250" y="2324100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00800" y="2914650"/>
            <a:ext cx="571500" cy="571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00825" y="3048000"/>
            <a:ext cx="171450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00800" y="3638550"/>
            <a:ext cx="571500" cy="571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00825" y="3771900"/>
            <a:ext cx="17145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1000" y="4819650"/>
            <a:ext cx="11430000" cy="5334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381000" y="209550"/>
            <a:ext cx="4894362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Current Situation &amp; Need</a:t>
            </a:r>
            <a:endParaRPr lang="en-US" sz="2250" dirty="0"/>
          </a:p>
        </p:txBody>
      </p:sp>
      <p:sp>
        <p:nvSpPr>
          <p:cNvPr id="20" name="Text 1"/>
          <p:cNvSpPr/>
          <p:nvPr/>
        </p:nvSpPr>
        <p:spPr>
          <a:xfrm>
            <a:off x="381000" y="1047750"/>
            <a:ext cx="13716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analysis of biblical authorship presents unique challenges that require modern computational approaches.</a:t>
            </a:r>
            <a:endParaRPr lang="en-US" sz="1500" dirty="0"/>
          </a:p>
        </p:txBody>
      </p:sp>
      <p:sp>
        <p:nvSpPr>
          <p:cNvPr id="21" name="Text 2"/>
          <p:cNvSpPr/>
          <p:nvPr/>
        </p:nvSpPr>
        <p:spPr>
          <a:xfrm>
            <a:off x="571500" y="1733550"/>
            <a:ext cx="62636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Traditional Approach</a:t>
            </a:r>
            <a:endParaRPr lang="en-US" sz="1800" dirty="0"/>
          </a:p>
        </p:txBody>
      </p:sp>
      <p:sp>
        <p:nvSpPr>
          <p:cNvPr id="22" name="Text 3"/>
          <p:cNvSpPr/>
          <p:nvPr/>
        </p:nvSpPr>
        <p:spPr>
          <a:xfrm>
            <a:off x="1333500" y="2190750"/>
            <a:ext cx="485739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Manual &amp; Interpretive</a:t>
            </a:r>
            <a:endParaRPr lang="en-US" sz="1500" dirty="0"/>
          </a:p>
        </p:txBody>
      </p:sp>
      <p:sp>
        <p:nvSpPr>
          <p:cNvPr id="23" name="Text 4"/>
          <p:cNvSpPr/>
          <p:nvPr/>
        </p:nvSpPr>
        <p:spPr>
          <a:xfrm>
            <a:off x="1333500" y="2457450"/>
            <a:ext cx="485739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Relies on expert knowledge and subjective judgment</a:t>
            </a:r>
            <a:endParaRPr lang="en-US" sz="1200" dirty="0"/>
          </a:p>
        </p:txBody>
      </p:sp>
      <p:sp>
        <p:nvSpPr>
          <p:cNvPr id="24" name="Text 5"/>
          <p:cNvSpPr/>
          <p:nvPr/>
        </p:nvSpPr>
        <p:spPr>
          <a:xfrm>
            <a:off x="1333500" y="2914650"/>
            <a:ext cx="333672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Slow Process</a:t>
            </a:r>
            <a:endParaRPr lang="en-US" sz="1500" dirty="0"/>
          </a:p>
        </p:txBody>
      </p:sp>
      <p:sp>
        <p:nvSpPr>
          <p:cNvPr id="25" name="Text 6"/>
          <p:cNvSpPr/>
          <p:nvPr/>
        </p:nvSpPr>
        <p:spPr>
          <a:xfrm>
            <a:off x="1333500" y="3181350"/>
            <a:ext cx="400407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Time-consuming analysis of extensive texts</a:t>
            </a:r>
            <a:endParaRPr lang="en-US" sz="1200" dirty="0"/>
          </a:p>
        </p:txBody>
      </p:sp>
      <p:sp>
        <p:nvSpPr>
          <p:cNvPr id="26" name="Text 7"/>
          <p:cNvSpPr/>
          <p:nvPr/>
        </p:nvSpPr>
        <p:spPr>
          <a:xfrm>
            <a:off x="1333500" y="3638550"/>
            <a:ext cx="408211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Hard to Reproduce</a:t>
            </a:r>
            <a:endParaRPr lang="en-US" sz="1500" dirty="0"/>
          </a:p>
        </p:txBody>
      </p:sp>
      <p:sp>
        <p:nvSpPr>
          <p:cNvPr id="27" name="Text 8"/>
          <p:cNvSpPr/>
          <p:nvPr/>
        </p:nvSpPr>
        <p:spPr>
          <a:xfrm>
            <a:off x="1333500" y="3905250"/>
            <a:ext cx="408211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Results may vary between different analysts</a:t>
            </a:r>
            <a:endParaRPr lang="en-US" sz="1200" dirty="0"/>
          </a:p>
        </p:txBody>
      </p:sp>
      <p:sp>
        <p:nvSpPr>
          <p:cNvPr id="28" name="Text 9"/>
          <p:cNvSpPr/>
          <p:nvPr/>
        </p:nvSpPr>
        <p:spPr>
          <a:xfrm>
            <a:off x="6400800" y="1733550"/>
            <a:ext cx="5219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Data-Driven Need</a:t>
            </a:r>
            <a:endParaRPr lang="en-US" sz="1800" dirty="0"/>
          </a:p>
        </p:txBody>
      </p:sp>
      <p:sp>
        <p:nvSpPr>
          <p:cNvPr id="29" name="Text 10"/>
          <p:cNvSpPr/>
          <p:nvPr/>
        </p:nvSpPr>
        <p:spPr>
          <a:xfrm>
            <a:off x="7162800" y="2190750"/>
            <a:ext cx="392995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Measurable Workflow</a:t>
            </a:r>
            <a:endParaRPr lang="en-US" sz="1500" dirty="0"/>
          </a:p>
        </p:txBody>
      </p:sp>
      <p:sp>
        <p:nvSpPr>
          <p:cNvPr id="30" name="Text 11"/>
          <p:cNvSpPr/>
          <p:nvPr/>
        </p:nvSpPr>
        <p:spPr>
          <a:xfrm>
            <a:off x="7162800" y="2457450"/>
            <a:ext cx="392995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Objective analysis with quantifiable results</a:t>
            </a:r>
            <a:endParaRPr lang="en-US" sz="1200" dirty="0"/>
          </a:p>
        </p:txBody>
      </p:sp>
      <p:sp>
        <p:nvSpPr>
          <p:cNvPr id="31" name="Text 12"/>
          <p:cNvSpPr/>
          <p:nvPr/>
        </p:nvSpPr>
        <p:spPr>
          <a:xfrm>
            <a:off x="7162800" y="2914650"/>
            <a:ext cx="427374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Efficient Analysis</a:t>
            </a:r>
            <a:endParaRPr lang="en-US" sz="1500" dirty="0"/>
          </a:p>
        </p:txBody>
      </p:sp>
      <p:sp>
        <p:nvSpPr>
          <p:cNvPr id="32" name="Text 13"/>
          <p:cNvSpPr/>
          <p:nvPr/>
        </p:nvSpPr>
        <p:spPr>
          <a:xfrm>
            <a:off x="7162800" y="3181350"/>
            <a:ext cx="427374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Automated processing of large textual corpora</a:t>
            </a:r>
            <a:endParaRPr lang="en-US" sz="1200" dirty="0"/>
          </a:p>
        </p:txBody>
      </p:sp>
      <p:sp>
        <p:nvSpPr>
          <p:cNvPr id="33" name="Text 14"/>
          <p:cNvSpPr/>
          <p:nvPr/>
        </p:nvSpPr>
        <p:spPr>
          <a:xfrm>
            <a:off x="7162800" y="3638550"/>
            <a:ext cx="48057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Reproducible Results</a:t>
            </a:r>
            <a:endParaRPr lang="en-US" sz="1500" dirty="0"/>
          </a:p>
        </p:txBody>
      </p:sp>
      <p:sp>
        <p:nvSpPr>
          <p:cNvPr id="34" name="Text 15"/>
          <p:cNvSpPr/>
          <p:nvPr/>
        </p:nvSpPr>
        <p:spPr>
          <a:xfrm>
            <a:off x="7162800" y="3905250"/>
            <a:ext cx="480577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Consistent outcomes through standardized methods</a:t>
            </a:r>
            <a:endParaRPr lang="en-US" sz="1200" dirty="0"/>
          </a:p>
        </p:txBody>
      </p:sp>
      <p:sp>
        <p:nvSpPr>
          <p:cNvPr id="35" name="Text 16"/>
          <p:cNvSpPr/>
          <p:nvPr/>
        </p:nvSpPr>
        <p:spPr>
          <a:xfrm>
            <a:off x="533400" y="4972050"/>
            <a:ext cx="133502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Focus: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Our goal is not to make theological judgments, but to build a scientific tool that generates measurable data and visualizations.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047750"/>
            <a:ext cx="11430000" cy="10287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38250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325" y="1323975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2305050"/>
            <a:ext cx="11430000" cy="1028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495550"/>
            <a:ext cx="476250" cy="4762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325" y="2581275"/>
            <a:ext cx="2286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1000" y="3562350"/>
            <a:ext cx="11430000" cy="12573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1500" y="3752850"/>
            <a:ext cx="476250" cy="476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5325" y="3838575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90625" y="4210050"/>
            <a:ext cx="381000" cy="3810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14450" y="4324350"/>
            <a:ext cx="13335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24264" y="4210050"/>
            <a:ext cx="3810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38564" y="432435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81000" y="5048250"/>
            <a:ext cx="11430000" cy="7620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381000" y="209550"/>
            <a:ext cx="3622417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Problem Definition</a:t>
            </a:r>
            <a:endParaRPr lang="en-US" sz="2250" dirty="0"/>
          </a:p>
        </p:txBody>
      </p:sp>
      <p:sp>
        <p:nvSpPr>
          <p:cNvPr id="19" name="Text 1"/>
          <p:cNvSpPr/>
          <p:nvPr/>
        </p:nvSpPr>
        <p:spPr>
          <a:xfrm>
            <a:off x="1190625" y="1238250"/>
            <a:ext cx="542448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Problem</a:t>
            </a:r>
            <a:endParaRPr lang="en-US" sz="1800" dirty="0"/>
          </a:p>
        </p:txBody>
      </p:sp>
      <p:sp>
        <p:nvSpPr>
          <p:cNvPr id="20" name="Text 2"/>
          <p:cNvSpPr/>
          <p:nvPr/>
        </p:nvSpPr>
        <p:spPr>
          <a:xfrm>
            <a:off x="1190625" y="1619250"/>
            <a:ext cx="650938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Detect subtle stylistic differences inside a single extensive text</a:t>
            </a:r>
            <a:endParaRPr lang="en-US" sz="1350" dirty="0"/>
          </a:p>
        </p:txBody>
      </p:sp>
      <p:sp>
        <p:nvSpPr>
          <p:cNvPr id="21" name="Text 3"/>
          <p:cNvSpPr/>
          <p:nvPr/>
        </p:nvSpPr>
        <p:spPr>
          <a:xfrm>
            <a:off x="1190625" y="2495550"/>
            <a:ext cx="7492008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Research Question</a:t>
            </a:r>
            <a:endParaRPr lang="en-US" sz="1800" dirty="0"/>
          </a:p>
        </p:txBody>
      </p:sp>
      <p:sp>
        <p:nvSpPr>
          <p:cNvPr id="22" name="Text 4"/>
          <p:cNvSpPr/>
          <p:nvPr/>
        </p:nvSpPr>
        <p:spPr>
          <a:xfrm>
            <a:off x="1190625" y="2876550"/>
            <a:ext cx="899040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Is the Torah stylistically consistent, or does it show evidence of multiple distinct styles?</a:t>
            </a:r>
            <a:endParaRPr lang="en-US" sz="1350" dirty="0"/>
          </a:p>
        </p:txBody>
      </p:sp>
      <p:sp>
        <p:nvSpPr>
          <p:cNvPr id="23" name="Text 5"/>
          <p:cNvSpPr/>
          <p:nvPr/>
        </p:nvSpPr>
        <p:spPr>
          <a:xfrm>
            <a:off x="1190625" y="3752850"/>
            <a:ext cx="7114877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Constraints</a:t>
            </a:r>
            <a:endParaRPr lang="en-US" sz="1800" dirty="0"/>
          </a:p>
        </p:txBody>
      </p:sp>
      <p:sp>
        <p:nvSpPr>
          <p:cNvPr id="24" name="Text 6"/>
          <p:cNvSpPr/>
          <p:nvPr/>
        </p:nvSpPr>
        <p:spPr>
          <a:xfrm>
            <a:off x="1685925" y="4171950"/>
            <a:ext cx="2985939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Biblical Hebrew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
Ancient language with archaic features</a:t>
            </a:r>
            <a:endParaRPr lang="en-US" sz="1200" dirty="0"/>
          </a:p>
        </p:txBody>
      </p:sp>
      <p:sp>
        <p:nvSpPr>
          <p:cNvPr id="25" name="Text 7"/>
          <p:cNvSpPr/>
          <p:nvPr/>
        </p:nvSpPr>
        <p:spPr>
          <a:xfrm>
            <a:off x="5319564" y="4171950"/>
            <a:ext cx="2235696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Domain Mismatch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
For modern language models</a:t>
            </a:r>
            <a:endParaRPr lang="en-US" sz="1200" dirty="0"/>
          </a:p>
        </p:txBody>
      </p:sp>
      <p:sp>
        <p:nvSpPr>
          <p:cNvPr id="26" name="Text 8"/>
          <p:cNvSpPr/>
          <p:nvPr/>
        </p:nvSpPr>
        <p:spPr>
          <a:xfrm>
            <a:off x="533400" y="5200650"/>
            <a:ext cx="11125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Challenge: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Biblical Hebrew presents greater difficulties than modern texts due to its ancient nature, archaic spelling, and tokenization challenges.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543050"/>
            <a:ext cx="3555950" cy="2343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733550"/>
            <a:ext cx="457200" cy="533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84785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219450"/>
            <a:ext cx="3174950" cy="381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219450"/>
            <a:ext cx="793700" cy="381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5200" y="3219450"/>
            <a:ext cx="793700" cy="3810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58901" y="3219450"/>
            <a:ext cx="7937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17950" y="1657350"/>
            <a:ext cx="3555950" cy="21145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08450" y="1847850"/>
            <a:ext cx="514350" cy="533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22750" y="1962150"/>
            <a:ext cx="28575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508450" y="3105150"/>
            <a:ext cx="3174950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08450" y="3105150"/>
            <a:ext cx="793700" cy="3810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302151" y="3105150"/>
            <a:ext cx="793700" cy="3810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95851" y="3105150"/>
            <a:ext cx="793700" cy="3810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54901" y="1590675"/>
            <a:ext cx="3555950" cy="22479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45401" y="1781175"/>
            <a:ext cx="457200" cy="533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559701" y="1895475"/>
            <a:ext cx="228600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45401" y="3038475"/>
            <a:ext cx="3174950" cy="6096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445401" y="3038475"/>
            <a:ext cx="3133725" cy="6096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81000" y="4191000"/>
            <a:ext cx="3657600" cy="11049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533400" y="4400550"/>
            <a:ext cx="17145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267200" y="4191000"/>
            <a:ext cx="3657600" cy="11049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419600" y="4400550"/>
            <a:ext cx="1524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53400" y="4191000"/>
            <a:ext cx="3657600" cy="11049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05800" y="4400550"/>
            <a:ext cx="13335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81000" y="5524500"/>
            <a:ext cx="11430000" cy="55245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71500" y="5695950"/>
            <a:ext cx="152400" cy="17145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436072" y="5695950"/>
            <a:ext cx="161925" cy="171450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381000" y="209550"/>
            <a:ext cx="6037897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Proposed Solution (High-Level)</a:t>
            </a:r>
            <a:endParaRPr lang="en-US" sz="2250" dirty="0"/>
          </a:p>
        </p:txBody>
      </p:sp>
      <p:sp>
        <p:nvSpPr>
          <p:cNvPr id="33" name="Text 1"/>
          <p:cNvSpPr/>
          <p:nvPr/>
        </p:nvSpPr>
        <p:spPr>
          <a:xfrm>
            <a:off x="381000" y="1047750"/>
            <a:ext cx="13716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Our approach combines two powerful methods to analyze stylistic consistency in ancient Hebrew texts.</a:t>
            </a:r>
            <a:endParaRPr lang="en-US" sz="1500" dirty="0"/>
          </a:p>
        </p:txBody>
      </p:sp>
      <p:sp>
        <p:nvSpPr>
          <p:cNvPr id="34" name="Text 2"/>
          <p:cNvSpPr/>
          <p:nvPr/>
        </p:nvSpPr>
        <p:spPr>
          <a:xfrm>
            <a:off x="1143000" y="1847850"/>
            <a:ext cx="2445841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Deep Impostors</a:t>
            </a:r>
            <a:endParaRPr lang="en-US" sz="1800" dirty="0"/>
          </a:p>
        </p:txBody>
      </p:sp>
      <p:sp>
        <p:nvSpPr>
          <p:cNvPr id="35" name="Text 3"/>
          <p:cNvSpPr/>
          <p:nvPr/>
        </p:nvSpPr>
        <p:spPr>
          <a:xfrm>
            <a:off x="571500" y="2381250"/>
            <a:ext cx="317495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Identifies stylistic differences by comparing text segments to multiple styles</a:t>
            </a:r>
            <a:endParaRPr lang="en-US" sz="1200" dirty="0"/>
          </a:p>
        </p:txBody>
      </p:sp>
      <p:sp>
        <p:nvSpPr>
          <p:cNvPr id="36" name="Text 4"/>
          <p:cNvSpPr/>
          <p:nvPr/>
        </p:nvSpPr>
        <p:spPr>
          <a:xfrm>
            <a:off x="5137100" y="1962150"/>
            <a:ext cx="129462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Sen2Pro</a:t>
            </a:r>
            <a:endParaRPr lang="en-US" sz="1800" dirty="0"/>
          </a:p>
        </p:txBody>
      </p:sp>
      <p:sp>
        <p:nvSpPr>
          <p:cNvPr id="37" name="Text 5"/>
          <p:cNvSpPr/>
          <p:nvPr/>
        </p:nvSpPr>
        <p:spPr>
          <a:xfrm>
            <a:off x="4508450" y="2495550"/>
            <a:ext cx="31749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Generates probabilistic embeddings that capture uncertainty in representation</a:t>
            </a:r>
            <a:endParaRPr lang="en-US" sz="1200" dirty="0"/>
          </a:p>
        </p:txBody>
      </p:sp>
      <p:sp>
        <p:nvSpPr>
          <p:cNvPr id="38" name="Text 6"/>
          <p:cNvSpPr/>
          <p:nvPr/>
        </p:nvSpPr>
        <p:spPr>
          <a:xfrm>
            <a:off x="9016901" y="1895475"/>
            <a:ext cx="200882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Style Signals</a:t>
            </a:r>
            <a:endParaRPr lang="en-US" sz="1800" dirty="0"/>
          </a:p>
        </p:txBody>
      </p:sp>
      <p:sp>
        <p:nvSpPr>
          <p:cNvPr id="39" name="Text 7"/>
          <p:cNvSpPr/>
          <p:nvPr/>
        </p:nvSpPr>
        <p:spPr>
          <a:xfrm>
            <a:off x="8445401" y="2428875"/>
            <a:ext cx="31749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Continuous numeric signals representing stylistic features along the text</a:t>
            </a:r>
            <a:endParaRPr lang="en-US" sz="1200" dirty="0"/>
          </a:p>
        </p:txBody>
      </p:sp>
      <p:sp>
        <p:nvSpPr>
          <p:cNvPr id="40" name="Text 8"/>
          <p:cNvSpPr/>
          <p:nvPr/>
        </p:nvSpPr>
        <p:spPr>
          <a:xfrm>
            <a:off x="781050" y="4343400"/>
            <a:ext cx="130516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Integration</a:t>
            </a:r>
            <a:endParaRPr lang="en-US" sz="1350" dirty="0"/>
          </a:p>
        </p:txBody>
      </p:sp>
      <p:sp>
        <p:nvSpPr>
          <p:cNvPr id="41" name="Text 9"/>
          <p:cNvSpPr/>
          <p:nvPr/>
        </p:nvSpPr>
        <p:spPr>
          <a:xfrm>
            <a:off x="533400" y="4686300"/>
            <a:ext cx="3352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Sen2Pro enhances Deep Impostors by adding uncertainty-aware embeddings</a:t>
            </a:r>
            <a:endParaRPr lang="en-US" sz="1200" dirty="0"/>
          </a:p>
        </p:txBody>
      </p:sp>
      <p:sp>
        <p:nvSpPr>
          <p:cNvPr id="42" name="Text 10"/>
          <p:cNvSpPr/>
          <p:nvPr/>
        </p:nvSpPr>
        <p:spPr>
          <a:xfrm>
            <a:off x="4648200" y="4343400"/>
            <a:ext cx="96476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Analysis</a:t>
            </a:r>
            <a:endParaRPr lang="en-US" sz="1350" dirty="0"/>
          </a:p>
        </p:txBody>
      </p:sp>
      <p:sp>
        <p:nvSpPr>
          <p:cNvPr id="43" name="Text 11"/>
          <p:cNvSpPr/>
          <p:nvPr/>
        </p:nvSpPr>
        <p:spPr>
          <a:xfrm>
            <a:off x="4419600" y="4686300"/>
            <a:ext cx="3352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Compare signals using distance metrics and detect outliers via clustering</a:t>
            </a:r>
            <a:endParaRPr lang="en-US" sz="1200" dirty="0"/>
          </a:p>
        </p:txBody>
      </p:sp>
      <p:sp>
        <p:nvSpPr>
          <p:cNvPr id="44" name="Text 12"/>
          <p:cNvSpPr/>
          <p:nvPr/>
        </p:nvSpPr>
        <p:spPr>
          <a:xfrm>
            <a:off x="8515350" y="4343400"/>
            <a:ext cx="114514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Flexibility</a:t>
            </a:r>
            <a:endParaRPr lang="en-US" sz="1350" dirty="0"/>
          </a:p>
        </p:txBody>
      </p:sp>
      <p:sp>
        <p:nvSpPr>
          <p:cNvPr id="45" name="Text 13"/>
          <p:cNvSpPr/>
          <p:nvPr/>
        </p:nvSpPr>
        <p:spPr>
          <a:xfrm>
            <a:off x="8305800" y="4686300"/>
            <a:ext cx="3352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Adaptable framework for various textual analysis tasks beyond authorship</a:t>
            </a:r>
            <a:endParaRPr lang="en-US" sz="1200" dirty="0"/>
          </a:p>
        </p:txBody>
      </p:sp>
      <p:sp>
        <p:nvSpPr>
          <p:cNvPr id="46" name="Text 14"/>
          <p:cNvSpPr/>
          <p:nvPr/>
        </p:nvSpPr>
        <p:spPr>
          <a:xfrm>
            <a:off x="800100" y="5667375"/>
            <a:ext cx="13258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We turn text into a signal, then analyze signals like time-series. 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466850"/>
            <a:ext cx="11430000" cy="1866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3125" y="1609725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52663" y="1695450"/>
            <a:ext cx="257175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7875" y="1609725"/>
            <a:ext cx="476250" cy="4762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53125" y="1695450"/>
            <a:ext cx="28575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72625" y="1609725"/>
            <a:ext cx="476250" cy="4762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96450" y="1695450"/>
            <a:ext cx="228600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16906" y="2581275"/>
            <a:ext cx="8358188" cy="76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16906" y="2581275"/>
            <a:ext cx="4179094" cy="762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16906" y="2581275"/>
            <a:ext cx="8358188" cy="76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16906" y="2581275"/>
            <a:ext cx="8358188" cy="76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1000" y="3562350"/>
            <a:ext cx="3708350" cy="12573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1500" y="4438650"/>
            <a:ext cx="142875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241750" y="3562350"/>
            <a:ext cx="3708350" cy="12573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32250" y="4438650"/>
            <a:ext cx="152400" cy="1524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102501" y="3562350"/>
            <a:ext cx="3708499" cy="12573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93001" y="4438650"/>
            <a:ext cx="1905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81000" y="5238750"/>
            <a:ext cx="11430000" cy="5334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381000" y="209550"/>
            <a:ext cx="8702338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Background: Author Verification &amp; Impostors</a:t>
            </a:r>
            <a:endParaRPr lang="en-US" sz="2250" dirty="0"/>
          </a:p>
        </p:txBody>
      </p:sp>
      <p:sp>
        <p:nvSpPr>
          <p:cNvPr id="23" name="Text 1"/>
          <p:cNvSpPr/>
          <p:nvPr/>
        </p:nvSpPr>
        <p:spPr>
          <a:xfrm>
            <a:off x="381000" y="1047750"/>
            <a:ext cx="13716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Author verification methods form the foundation for authorship analysis.</a:t>
            </a:r>
            <a:endParaRPr lang="en-US" sz="1500" dirty="0"/>
          </a:p>
        </p:txBody>
      </p:sp>
      <p:sp>
        <p:nvSpPr>
          <p:cNvPr id="24" name="Text 2"/>
          <p:cNvSpPr/>
          <p:nvPr/>
        </p:nvSpPr>
        <p:spPr>
          <a:xfrm>
            <a:off x="523875" y="2162175"/>
            <a:ext cx="37147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Source Text</a:t>
            </a:r>
            <a:endParaRPr lang="en-US" sz="1350" dirty="0"/>
          </a:p>
        </p:txBody>
      </p:sp>
      <p:sp>
        <p:nvSpPr>
          <p:cNvPr id="25" name="Text 3"/>
          <p:cNvSpPr/>
          <p:nvPr/>
        </p:nvSpPr>
        <p:spPr>
          <a:xfrm>
            <a:off x="4238625" y="2162175"/>
            <a:ext cx="37147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Target Text</a:t>
            </a:r>
            <a:endParaRPr lang="en-US" sz="1350" dirty="0"/>
          </a:p>
        </p:txBody>
      </p:sp>
      <p:sp>
        <p:nvSpPr>
          <p:cNvPr id="26" name="Text 4"/>
          <p:cNvSpPr/>
          <p:nvPr/>
        </p:nvSpPr>
        <p:spPr>
          <a:xfrm>
            <a:off x="7581900" y="2162175"/>
            <a:ext cx="4457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Verification Result</a:t>
            </a:r>
            <a:endParaRPr lang="en-US" sz="1350" dirty="0"/>
          </a:p>
        </p:txBody>
      </p:sp>
      <p:sp>
        <p:nvSpPr>
          <p:cNvPr id="27" name="Text 5"/>
          <p:cNvSpPr/>
          <p:nvPr/>
        </p:nvSpPr>
        <p:spPr>
          <a:xfrm>
            <a:off x="1916906" y="2352675"/>
            <a:ext cx="488275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Match</a:t>
            </a:r>
            <a:endParaRPr lang="en-US" sz="1050" dirty="0"/>
          </a:p>
        </p:txBody>
      </p:sp>
      <p:sp>
        <p:nvSpPr>
          <p:cNvPr id="28" name="Text 6"/>
          <p:cNvSpPr/>
          <p:nvPr/>
        </p:nvSpPr>
        <p:spPr>
          <a:xfrm>
            <a:off x="5780633" y="2352675"/>
            <a:ext cx="7568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 Match</a:t>
            </a:r>
            <a:endParaRPr lang="en-US" sz="1050" dirty="0"/>
          </a:p>
        </p:txBody>
      </p:sp>
      <p:sp>
        <p:nvSpPr>
          <p:cNvPr id="29" name="Text 7"/>
          <p:cNvSpPr/>
          <p:nvPr/>
        </p:nvSpPr>
        <p:spPr>
          <a:xfrm>
            <a:off x="571500" y="3752850"/>
            <a:ext cx="39928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Author Verification</a:t>
            </a:r>
            <a:endParaRPr lang="en-US" sz="1500" dirty="0"/>
          </a:p>
        </p:txBody>
      </p:sp>
      <p:sp>
        <p:nvSpPr>
          <p:cNvPr id="30" name="Text 8"/>
          <p:cNvSpPr/>
          <p:nvPr/>
        </p:nvSpPr>
        <p:spPr>
          <a:xfrm>
            <a:off x="571500" y="4095750"/>
            <a:ext cx="39928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"Does this text match a source style?"</a:t>
            </a:r>
            <a:endParaRPr lang="en-US" sz="1200" dirty="0"/>
          </a:p>
        </p:txBody>
      </p:sp>
      <p:sp>
        <p:nvSpPr>
          <p:cNvPr id="31" name="Text 9"/>
          <p:cNvSpPr/>
          <p:nvPr/>
        </p:nvSpPr>
        <p:spPr>
          <a:xfrm>
            <a:off x="790575" y="4400550"/>
            <a:ext cx="186612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Traditional approach</a:t>
            </a:r>
            <a:endParaRPr lang="en-US" sz="1200" dirty="0"/>
          </a:p>
        </p:txBody>
      </p:sp>
      <p:sp>
        <p:nvSpPr>
          <p:cNvPr id="32" name="Text 10"/>
          <p:cNvSpPr/>
          <p:nvPr/>
        </p:nvSpPr>
        <p:spPr>
          <a:xfrm>
            <a:off x="4432250" y="3752850"/>
            <a:ext cx="39928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Extrinsic Verification</a:t>
            </a:r>
            <a:endParaRPr lang="en-US" sz="1500" dirty="0"/>
          </a:p>
        </p:txBody>
      </p:sp>
      <p:sp>
        <p:nvSpPr>
          <p:cNvPr id="33" name="Text 11"/>
          <p:cNvSpPr/>
          <p:nvPr/>
        </p:nvSpPr>
        <p:spPr>
          <a:xfrm>
            <a:off x="4432250" y="4095750"/>
            <a:ext cx="39928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Uses external texts as negative class</a:t>
            </a:r>
            <a:endParaRPr lang="en-US" sz="1200" dirty="0"/>
          </a:p>
        </p:txBody>
      </p:sp>
      <p:sp>
        <p:nvSpPr>
          <p:cNvPr id="34" name="Text 12"/>
          <p:cNvSpPr/>
          <p:nvPr/>
        </p:nvSpPr>
        <p:spPr>
          <a:xfrm>
            <a:off x="4660850" y="4400550"/>
            <a:ext cx="307038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Compares against known authors</a:t>
            </a:r>
            <a:endParaRPr lang="en-US" sz="1200" dirty="0"/>
          </a:p>
        </p:txBody>
      </p:sp>
      <p:sp>
        <p:nvSpPr>
          <p:cNvPr id="35" name="Text 13"/>
          <p:cNvSpPr/>
          <p:nvPr/>
        </p:nvSpPr>
        <p:spPr>
          <a:xfrm>
            <a:off x="8293001" y="3752850"/>
            <a:ext cx="332749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Impostors Idea</a:t>
            </a:r>
            <a:endParaRPr lang="en-US" sz="1500" dirty="0"/>
          </a:p>
        </p:txBody>
      </p:sp>
      <p:sp>
        <p:nvSpPr>
          <p:cNvPr id="36" name="Text 14"/>
          <p:cNvSpPr/>
          <p:nvPr/>
        </p:nvSpPr>
        <p:spPr>
          <a:xfrm>
            <a:off x="8293001" y="4095750"/>
            <a:ext cx="399299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Compare target to many different styles</a:t>
            </a:r>
            <a:endParaRPr lang="en-US" sz="1200" dirty="0"/>
          </a:p>
        </p:txBody>
      </p:sp>
      <p:sp>
        <p:nvSpPr>
          <p:cNvPr id="37" name="Text 15"/>
          <p:cNvSpPr/>
          <p:nvPr/>
        </p:nvSpPr>
        <p:spPr>
          <a:xfrm>
            <a:off x="8559701" y="4400550"/>
            <a:ext cx="215937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Broad style comparison</a:t>
            </a:r>
            <a:endParaRPr lang="en-US" sz="1200" dirty="0"/>
          </a:p>
        </p:txBody>
      </p:sp>
      <p:sp>
        <p:nvSpPr>
          <p:cNvPr id="38" name="Text 16"/>
          <p:cNvSpPr/>
          <p:nvPr/>
        </p:nvSpPr>
        <p:spPr>
          <a:xfrm>
            <a:off x="533400" y="5391150"/>
            <a:ext cx="133502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Insight: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The impostors approach extends beyond simple matching to create a more robust verification system.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371600"/>
            <a:ext cx="3708350" cy="2438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1543050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275" y="1628775"/>
            <a:ext cx="17145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875" y="2505075"/>
            <a:ext cx="3422600" cy="1143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2505075"/>
            <a:ext cx="3327350" cy="5715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124200"/>
            <a:ext cx="3327350" cy="571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743325"/>
            <a:ext cx="3327350" cy="571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41750" y="1371600"/>
            <a:ext cx="3708350" cy="2438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84625" y="1514475"/>
            <a:ext cx="476250" cy="4762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08450" y="1600200"/>
            <a:ext cx="228600" cy="304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84625" y="2447925"/>
            <a:ext cx="3422600" cy="12192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43389" y="2847975"/>
            <a:ext cx="323850" cy="4191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19589" y="2924175"/>
            <a:ext cx="171450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95839" y="2981325"/>
            <a:ext cx="13335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57789" y="2847975"/>
            <a:ext cx="390525" cy="4191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33989" y="2924175"/>
            <a:ext cx="238125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102501" y="1371600"/>
            <a:ext cx="3708499" cy="2438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45376" y="1514475"/>
            <a:ext cx="476250" cy="47625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369201" y="1600200"/>
            <a:ext cx="228600" cy="304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93001" y="2447925"/>
            <a:ext cx="3327499" cy="5715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293001" y="2638425"/>
            <a:ext cx="3286125" cy="1905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81000" y="4105275"/>
            <a:ext cx="11430000" cy="15240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659731" y="4638675"/>
            <a:ext cx="400050" cy="533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4031" y="4752975"/>
            <a:ext cx="171450" cy="3048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186113" y="4924425"/>
            <a:ext cx="171450" cy="2667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455319" y="4638675"/>
            <a:ext cx="457200" cy="533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569619" y="4752975"/>
            <a:ext cx="228600" cy="3048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010275" y="4924425"/>
            <a:ext cx="171450" cy="266700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250906" y="4638675"/>
            <a:ext cx="514350" cy="53340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365206" y="4752975"/>
            <a:ext cx="285750" cy="304800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834438" y="4924425"/>
            <a:ext cx="171450" cy="266700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103644" y="4638675"/>
            <a:ext cx="457200" cy="533400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17944" y="4752975"/>
            <a:ext cx="228600" cy="30480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81000" y="5781675"/>
            <a:ext cx="11430000" cy="457200"/>
          </a:xfrm>
          <a:prstGeom prst="rect">
            <a:avLst/>
          </a:prstGeom>
        </p:spPr>
      </p:pic>
      <p:sp>
        <p:nvSpPr>
          <p:cNvPr id="38" name="Text 0"/>
          <p:cNvSpPr/>
          <p:nvPr/>
        </p:nvSpPr>
        <p:spPr>
          <a:xfrm>
            <a:off x="381000" y="209550"/>
            <a:ext cx="5880735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Deep Impostors: Pipeline Core</a:t>
            </a:r>
            <a:endParaRPr lang="en-US" sz="2250" dirty="0"/>
          </a:p>
        </p:txBody>
      </p:sp>
      <p:sp>
        <p:nvSpPr>
          <p:cNvPr id="39" name="Text 1"/>
          <p:cNvSpPr/>
          <p:nvPr/>
        </p:nvSpPr>
        <p:spPr>
          <a:xfrm>
            <a:off x="381000" y="952500"/>
            <a:ext cx="13716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Deep Impostors pipeline transforms documents into style signals through a systematic process.</a:t>
            </a:r>
            <a:endParaRPr lang="en-US" sz="1500" dirty="0"/>
          </a:p>
        </p:txBody>
      </p:sp>
      <p:sp>
        <p:nvSpPr>
          <p:cNvPr id="40" name="Text 2"/>
          <p:cNvSpPr/>
          <p:nvPr/>
        </p:nvSpPr>
        <p:spPr>
          <a:xfrm>
            <a:off x="1143000" y="1514475"/>
            <a:ext cx="2803475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1. Document Segmentation</a:t>
            </a:r>
            <a:endParaRPr lang="en-US" sz="1500" dirty="0"/>
          </a:p>
        </p:txBody>
      </p:sp>
      <p:sp>
        <p:nvSpPr>
          <p:cNvPr id="41" name="Text 3"/>
          <p:cNvSpPr/>
          <p:nvPr/>
        </p:nvSpPr>
        <p:spPr>
          <a:xfrm>
            <a:off x="523875" y="2162175"/>
            <a:ext cx="41071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Break document into fixed-length batches</a:t>
            </a:r>
            <a:endParaRPr lang="en-US" sz="1200" dirty="0"/>
          </a:p>
        </p:txBody>
      </p:sp>
      <p:sp>
        <p:nvSpPr>
          <p:cNvPr id="42" name="Text 4"/>
          <p:cNvSpPr/>
          <p:nvPr/>
        </p:nvSpPr>
        <p:spPr>
          <a:xfrm>
            <a:off x="1943398" y="2505075"/>
            <a:ext cx="332735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A264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Batch 1</a:t>
            </a:r>
            <a:endParaRPr lang="en-US" sz="1200" dirty="0"/>
          </a:p>
        </p:txBody>
      </p:sp>
      <p:sp>
        <p:nvSpPr>
          <p:cNvPr id="43" name="Text 5"/>
          <p:cNvSpPr/>
          <p:nvPr/>
        </p:nvSpPr>
        <p:spPr>
          <a:xfrm>
            <a:off x="1943398" y="3124200"/>
            <a:ext cx="332735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A264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Batch 2</a:t>
            </a:r>
            <a:endParaRPr lang="en-US" sz="1200" dirty="0"/>
          </a:p>
        </p:txBody>
      </p:sp>
      <p:sp>
        <p:nvSpPr>
          <p:cNvPr id="44" name="Text 6"/>
          <p:cNvSpPr/>
          <p:nvPr/>
        </p:nvSpPr>
        <p:spPr>
          <a:xfrm>
            <a:off x="1943398" y="3743325"/>
            <a:ext cx="332735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A264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Batch 3</a:t>
            </a:r>
            <a:endParaRPr lang="en-US" sz="1200" dirty="0"/>
          </a:p>
        </p:txBody>
      </p:sp>
      <p:sp>
        <p:nvSpPr>
          <p:cNvPr id="45" name="Text 7"/>
          <p:cNvSpPr/>
          <p:nvPr/>
        </p:nvSpPr>
        <p:spPr>
          <a:xfrm>
            <a:off x="5003750" y="1619250"/>
            <a:ext cx="27762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2. Pairwise Separator</a:t>
            </a:r>
            <a:endParaRPr lang="en-US" sz="1500" dirty="0"/>
          </a:p>
        </p:txBody>
      </p:sp>
      <p:sp>
        <p:nvSpPr>
          <p:cNvPr id="46" name="Text 8"/>
          <p:cNvSpPr/>
          <p:nvPr/>
        </p:nvSpPr>
        <p:spPr>
          <a:xfrm>
            <a:off x="4384625" y="2105025"/>
            <a:ext cx="41071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Train on two impostor collections</a:t>
            </a:r>
            <a:endParaRPr lang="en-US" sz="1200" dirty="0"/>
          </a:p>
        </p:txBody>
      </p:sp>
      <p:sp>
        <p:nvSpPr>
          <p:cNvPr id="47" name="Text 9"/>
          <p:cNvSpPr/>
          <p:nvPr/>
        </p:nvSpPr>
        <p:spPr>
          <a:xfrm>
            <a:off x="8864501" y="1619250"/>
            <a:ext cx="2804458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3. Signal Aggregation</a:t>
            </a:r>
            <a:endParaRPr lang="en-US" sz="1500" dirty="0"/>
          </a:p>
        </p:txBody>
      </p:sp>
      <p:sp>
        <p:nvSpPr>
          <p:cNvPr id="48" name="Text 10"/>
          <p:cNvSpPr/>
          <p:nvPr/>
        </p:nvSpPr>
        <p:spPr>
          <a:xfrm>
            <a:off x="8245376" y="2105025"/>
            <a:ext cx="410729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Score &amp; aggregate batches into style signal</a:t>
            </a:r>
            <a:endParaRPr lang="en-US" sz="1200" dirty="0"/>
          </a:p>
        </p:txBody>
      </p:sp>
      <p:sp>
        <p:nvSpPr>
          <p:cNvPr id="49" name="Text 11"/>
          <p:cNvSpPr/>
          <p:nvPr/>
        </p:nvSpPr>
        <p:spPr>
          <a:xfrm>
            <a:off x="9506992" y="2619375"/>
            <a:ext cx="107924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Style Signal</a:t>
            </a:r>
            <a:endParaRPr lang="en-US" sz="1200" dirty="0"/>
          </a:p>
        </p:txBody>
      </p:sp>
      <p:sp>
        <p:nvSpPr>
          <p:cNvPr id="50" name="Text 12"/>
          <p:cNvSpPr/>
          <p:nvPr/>
        </p:nvSpPr>
        <p:spPr>
          <a:xfrm>
            <a:off x="533400" y="4257675"/>
            <a:ext cx="111252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Pipeline Process Flow</a:t>
            </a:r>
            <a:endParaRPr lang="en-US" sz="1500" dirty="0"/>
          </a:p>
        </p:txBody>
      </p:sp>
      <p:sp>
        <p:nvSpPr>
          <p:cNvPr id="51" name="Text 13"/>
          <p:cNvSpPr/>
          <p:nvPr/>
        </p:nvSpPr>
        <p:spPr>
          <a:xfrm>
            <a:off x="1120200" y="5248275"/>
            <a:ext cx="147911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Input Document</a:t>
            </a:r>
            <a:endParaRPr lang="en-US" sz="1200" dirty="0"/>
          </a:p>
        </p:txBody>
      </p:sp>
      <p:sp>
        <p:nvSpPr>
          <p:cNvPr id="52" name="Text 14"/>
          <p:cNvSpPr/>
          <p:nvPr/>
        </p:nvSpPr>
        <p:spPr>
          <a:xfrm>
            <a:off x="4041175" y="5248275"/>
            <a:ext cx="128533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Segmentation</a:t>
            </a:r>
            <a:endParaRPr lang="en-US" sz="1200" dirty="0"/>
          </a:p>
        </p:txBody>
      </p:sp>
      <p:sp>
        <p:nvSpPr>
          <p:cNvPr id="53" name="Text 15"/>
          <p:cNvSpPr/>
          <p:nvPr/>
        </p:nvSpPr>
        <p:spPr>
          <a:xfrm>
            <a:off x="6727820" y="5248275"/>
            <a:ext cx="156037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Batch Processing</a:t>
            </a:r>
            <a:endParaRPr lang="en-US" sz="1200" dirty="0"/>
          </a:p>
        </p:txBody>
      </p:sp>
      <p:sp>
        <p:nvSpPr>
          <p:cNvPr id="54" name="Text 16"/>
          <p:cNvSpPr/>
          <p:nvPr/>
        </p:nvSpPr>
        <p:spPr>
          <a:xfrm>
            <a:off x="9792548" y="5248275"/>
            <a:ext cx="1079242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Style Signal</a:t>
            </a:r>
            <a:endParaRPr lang="en-US" sz="1200" dirty="0"/>
          </a:p>
        </p:txBody>
      </p:sp>
      <p:sp>
        <p:nvSpPr>
          <p:cNvPr id="55" name="Text 17"/>
          <p:cNvSpPr/>
          <p:nvPr/>
        </p:nvSpPr>
        <p:spPr>
          <a:xfrm>
            <a:off x="495300" y="5895975"/>
            <a:ext cx="134416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Insight: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Style is measured "locally" then aggregated into a continuous signal.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2571750"/>
            <a:ext cx="152400" cy="152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2876550"/>
            <a:ext cx="152400" cy="152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318135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3600450"/>
            <a:ext cx="5562600" cy="8572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875" y="3771900"/>
            <a:ext cx="133350" cy="1714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8400" y="1047750"/>
            <a:ext cx="5524500" cy="3657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8400" y="4895850"/>
            <a:ext cx="5562600" cy="9715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8900" y="5067300"/>
            <a:ext cx="152400" cy="152400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381000" y="209550"/>
            <a:ext cx="8267462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Deep Impostors: Comparing Signals (DTW)</a:t>
            </a:r>
            <a:endParaRPr lang="en-US" sz="2250" dirty="0"/>
          </a:p>
        </p:txBody>
      </p:sp>
      <p:sp>
        <p:nvSpPr>
          <p:cNvPr id="13" name="Text 1"/>
          <p:cNvSpPr/>
          <p:nvPr/>
        </p:nvSpPr>
        <p:spPr>
          <a:xfrm>
            <a:off x="381000" y="1047750"/>
            <a:ext cx="5562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Dynamic Time Warping</a:t>
            </a:r>
            <a:endParaRPr lang="en-US" sz="1800" dirty="0"/>
          </a:p>
        </p:txBody>
      </p:sp>
      <p:sp>
        <p:nvSpPr>
          <p:cNvPr id="14" name="Text 2"/>
          <p:cNvSpPr/>
          <p:nvPr/>
        </p:nvSpPr>
        <p:spPr>
          <a:xfrm>
            <a:off x="381000" y="1504950"/>
            <a:ext cx="55626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A264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Problem:</a:t>
            </a:r>
            <a:r>
              <a:rPr lang="en-US" sz="13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Signals can be similar but misaligned (shifted / stretched)</a:t>
            </a:r>
            <a:endParaRPr lang="en-US" sz="1350" dirty="0"/>
          </a:p>
        </p:txBody>
      </p:sp>
      <p:sp>
        <p:nvSpPr>
          <p:cNvPr id="15" name="Text 3"/>
          <p:cNvSpPr/>
          <p:nvPr/>
        </p:nvSpPr>
        <p:spPr>
          <a:xfrm>
            <a:off x="381000" y="2190750"/>
            <a:ext cx="5562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DTW Benefits:</a:t>
            </a:r>
            <a:endParaRPr lang="en-US" sz="1500" dirty="0"/>
          </a:p>
        </p:txBody>
      </p:sp>
      <p:sp>
        <p:nvSpPr>
          <p:cNvPr id="16" name="Text 4"/>
          <p:cNvSpPr/>
          <p:nvPr/>
        </p:nvSpPr>
        <p:spPr>
          <a:xfrm>
            <a:off x="609600" y="2533650"/>
            <a:ext cx="434732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Aligns patterns flexibly without strict alignment</a:t>
            </a:r>
            <a:endParaRPr lang="en-US" sz="1200" dirty="0"/>
          </a:p>
        </p:txBody>
      </p:sp>
      <p:sp>
        <p:nvSpPr>
          <p:cNvPr id="17" name="Text 5"/>
          <p:cNvSpPr/>
          <p:nvPr/>
        </p:nvSpPr>
        <p:spPr>
          <a:xfrm>
            <a:off x="609600" y="2838450"/>
            <a:ext cx="39458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Computes robust distance between signals</a:t>
            </a:r>
            <a:endParaRPr lang="en-US" sz="1200" dirty="0"/>
          </a:p>
        </p:txBody>
      </p:sp>
      <p:sp>
        <p:nvSpPr>
          <p:cNvPr id="18" name="Text 6"/>
          <p:cNvSpPr/>
          <p:nvPr/>
        </p:nvSpPr>
        <p:spPr>
          <a:xfrm>
            <a:off x="609600" y="3143250"/>
            <a:ext cx="3508117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Handles temporal variations in signals</a:t>
            </a:r>
            <a:endParaRPr lang="en-US" sz="1200" dirty="0"/>
          </a:p>
        </p:txBody>
      </p:sp>
      <p:sp>
        <p:nvSpPr>
          <p:cNvPr id="19" name="Text 7"/>
          <p:cNvSpPr/>
          <p:nvPr/>
        </p:nvSpPr>
        <p:spPr>
          <a:xfrm>
            <a:off x="733425" y="3743325"/>
            <a:ext cx="52768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Example</a:t>
            </a:r>
            <a:endParaRPr lang="en-US" sz="1350" dirty="0"/>
          </a:p>
        </p:txBody>
      </p:sp>
      <p:sp>
        <p:nvSpPr>
          <p:cNvPr id="20" name="Text 8"/>
          <p:cNvSpPr/>
          <p:nvPr/>
        </p:nvSpPr>
        <p:spPr>
          <a:xfrm>
            <a:off x="523875" y="4086225"/>
            <a:ext cx="63322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"Same trend appears earlier in one book and later in another"</a:t>
            </a:r>
            <a:endParaRPr lang="en-US" sz="1200" dirty="0"/>
          </a:p>
        </p:txBody>
      </p:sp>
      <p:sp>
        <p:nvSpPr>
          <p:cNvPr id="21" name="Text 9"/>
          <p:cNvSpPr/>
          <p:nvPr/>
        </p:nvSpPr>
        <p:spPr>
          <a:xfrm>
            <a:off x="6667500" y="5038725"/>
            <a:ext cx="51816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DTW creates an alignment path that minimizes the cumulative distance between points, allowing for flexible matching even when patterns are shifted or stretched.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638300"/>
            <a:ext cx="5600700" cy="7810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1781175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" y="186690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2562225"/>
            <a:ext cx="5600700" cy="7810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2705100"/>
            <a:ext cx="476250" cy="4762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" y="2790825"/>
            <a:ext cx="22860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1000" y="3486150"/>
            <a:ext cx="5600700" cy="7810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3629025"/>
            <a:ext cx="476250" cy="4762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" y="371475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4419600"/>
            <a:ext cx="5600700" cy="685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300" y="1093470"/>
            <a:ext cx="5524500" cy="2857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0300" y="417195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48750" y="4171950"/>
            <a:ext cx="152400" cy="152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0300" y="4438650"/>
            <a:ext cx="152400" cy="1524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67800" y="4457700"/>
            <a:ext cx="114300" cy="114300"/>
          </a:xfrm>
          <a:prstGeom prst="rect">
            <a:avLst/>
          </a:prstGeom>
        </p:spPr>
      </p:pic>
      <p:sp>
        <p:nvSpPr>
          <p:cNvPr id="19" name="Text 0"/>
          <p:cNvSpPr/>
          <p:nvPr/>
        </p:nvSpPr>
        <p:spPr>
          <a:xfrm>
            <a:off x="381000" y="209550"/>
            <a:ext cx="6979087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Deep Impostors: Outliers &amp; Clusters</a:t>
            </a:r>
            <a:endParaRPr lang="en-US" sz="2250" dirty="0"/>
          </a:p>
        </p:txBody>
      </p:sp>
      <p:sp>
        <p:nvSpPr>
          <p:cNvPr id="20" name="Text 1"/>
          <p:cNvSpPr/>
          <p:nvPr/>
        </p:nvSpPr>
        <p:spPr>
          <a:xfrm>
            <a:off x="381000" y="952500"/>
            <a:ext cx="56007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After generating style signals, we need to identify outliers and group similar texts:</a:t>
            </a:r>
            <a:endParaRPr lang="en-US" sz="1500" dirty="0"/>
          </a:p>
        </p:txBody>
      </p:sp>
      <p:sp>
        <p:nvSpPr>
          <p:cNvPr id="21" name="Text 2"/>
          <p:cNvSpPr/>
          <p:nvPr/>
        </p:nvSpPr>
        <p:spPr>
          <a:xfrm>
            <a:off x="1143000" y="1781175"/>
            <a:ext cx="499830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1. Distance Matrix</a:t>
            </a:r>
            <a:endParaRPr lang="en-US" sz="1500" dirty="0"/>
          </a:p>
        </p:txBody>
      </p:sp>
      <p:sp>
        <p:nvSpPr>
          <p:cNvPr id="22" name="Text 3"/>
          <p:cNvSpPr/>
          <p:nvPr/>
        </p:nvSpPr>
        <p:spPr>
          <a:xfrm>
            <a:off x="1143000" y="2047875"/>
            <a:ext cx="499830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Build a pairwise distance matrix between texts/signals</a:t>
            </a:r>
            <a:endParaRPr lang="en-US" sz="1200" dirty="0"/>
          </a:p>
        </p:txBody>
      </p:sp>
      <p:sp>
        <p:nvSpPr>
          <p:cNvPr id="23" name="Text 4"/>
          <p:cNvSpPr/>
          <p:nvPr/>
        </p:nvSpPr>
        <p:spPr>
          <a:xfrm>
            <a:off x="1143000" y="2705100"/>
            <a:ext cx="404675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2. Anomaly Scoring</a:t>
            </a:r>
            <a:endParaRPr lang="en-US" sz="1500" dirty="0"/>
          </a:p>
        </p:txBody>
      </p:sp>
      <p:sp>
        <p:nvSpPr>
          <p:cNvPr id="24" name="Text 5"/>
          <p:cNvSpPr/>
          <p:nvPr/>
        </p:nvSpPr>
        <p:spPr>
          <a:xfrm>
            <a:off x="1143000" y="2971800"/>
            <a:ext cx="404675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Apply Isolation Forest for anomaly detection</a:t>
            </a:r>
            <a:endParaRPr lang="en-US" sz="1200" dirty="0"/>
          </a:p>
        </p:txBody>
      </p:sp>
      <p:sp>
        <p:nvSpPr>
          <p:cNvPr id="25" name="Text 6"/>
          <p:cNvSpPr/>
          <p:nvPr/>
        </p:nvSpPr>
        <p:spPr>
          <a:xfrm>
            <a:off x="1143000" y="3629025"/>
            <a:ext cx="4050804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3. Clustering</a:t>
            </a:r>
            <a:endParaRPr lang="en-US" sz="1500" dirty="0"/>
          </a:p>
        </p:txBody>
      </p:sp>
      <p:sp>
        <p:nvSpPr>
          <p:cNvPr id="26" name="Text 7"/>
          <p:cNvSpPr/>
          <p:nvPr/>
        </p:nvSpPr>
        <p:spPr>
          <a:xfrm>
            <a:off x="1143000" y="3895725"/>
            <a:ext cx="486096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 K-medoids to separate core vs suspicious groups</a:t>
            </a:r>
            <a:endParaRPr lang="en-US" sz="1200" dirty="0"/>
          </a:p>
        </p:txBody>
      </p:sp>
      <p:sp>
        <p:nvSpPr>
          <p:cNvPr id="27" name="Text 8"/>
          <p:cNvSpPr/>
          <p:nvPr/>
        </p:nvSpPr>
        <p:spPr>
          <a:xfrm>
            <a:off x="495300" y="4533900"/>
            <a:ext cx="5372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Insight: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This approach provides both a "distance map" and identifies anomalous segments.</a:t>
            </a:r>
            <a:endParaRPr lang="en-US" sz="1200" dirty="0"/>
          </a:p>
        </p:txBody>
      </p:sp>
      <p:sp>
        <p:nvSpPr>
          <p:cNvPr id="28" name="Text 9"/>
          <p:cNvSpPr/>
          <p:nvPr/>
        </p:nvSpPr>
        <p:spPr>
          <a:xfrm>
            <a:off x="6438900" y="4152900"/>
            <a:ext cx="820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Core texts</a:t>
            </a:r>
            <a:endParaRPr lang="en-US" sz="1050" dirty="0"/>
          </a:p>
        </p:txBody>
      </p:sp>
      <p:sp>
        <p:nvSpPr>
          <p:cNvPr id="29" name="Text 10"/>
          <p:cNvSpPr/>
          <p:nvPr/>
        </p:nvSpPr>
        <p:spPr>
          <a:xfrm>
            <a:off x="9277350" y="4152900"/>
            <a:ext cx="83349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Anomalies</a:t>
            </a:r>
            <a:endParaRPr lang="en-US" sz="1050" dirty="0"/>
          </a:p>
        </p:txBody>
      </p:sp>
      <p:sp>
        <p:nvSpPr>
          <p:cNvPr id="30" name="Text 11"/>
          <p:cNvSpPr/>
          <p:nvPr/>
        </p:nvSpPr>
        <p:spPr>
          <a:xfrm>
            <a:off x="6438900" y="4419600"/>
            <a:ext cx="1217116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Cluster centers</a:t>
            </a:r>
            <a:endParaRPr lang="en-US" sz="1050" dirty="0"/>
          </a:p>
        </p:txBody>
      </p:sp>
      <p:sp>
        <p:nvSpPr>
          <p:cNvPr id="31" name="Text 12"/>
          <p:cNvSpPr/>
          <p:nvPr/>
        </p:nvSpPr>
        <p:spPr>
          <a:xfrm>
            <a:off x="9277350" y="4419600"/>
            <a:ext cx="100476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Similar texts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00087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047750"/>
            <a:ext cx="5600700" cy="1714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238250"/>
            <a:ext cx="381000" cy="381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352550"/>
            <a:ext cx="152400" cy="152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4900" y="1762125"/>
            <a:ext cx="762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4900" y="2066925"/>
            <a:ext cx="762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4900" y="2371725"/>
            <a:ext cx="76200" cy="152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2914650"/>
            <a:ext cx="5600700" cy="17145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105150"/>
            <a:ext cx="381000" cy="381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275" y="3219450"/>
            <a:ext cx="171450" cy="152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4900" y="3629025"/>
            <a:ext cx="762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4900" y="3933825"/>
            <a:ext cx="76200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4900" y="4238625"/>
            <a:ext cx="762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0300" y="1047750"/>
            <a:ext cx="5600700" cy="2438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62700" y="1200150"/>
            <a:ext cx="5295900" cy="2295376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0300" y="4019550"/>
            <a:ext cx="5600700" cy="55245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53175" y="4162425"/>
            <a:ext cx="190500" cy="2667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0300" y="4714875"/>
            <a:ext cx="5600700" cy="55245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53175" y="4857750"/>
            <a:ext cx="238125" cy="2667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0300" y="5410200"/>
            <a:ext cx="5600700" cy="55245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53175" y="5553075"/>
            <a:ext cx="190500" cy="2667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81000" y="6257925"/>
            <a:ext cx="11430000" cy="4572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381000" y="209550"/>
            <a:ext cx="7949744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Sen2Pro: Why Probabilistic Embeddings?</a:t>
            </a:r>
            <a:endParaRPr lang="en-US" sz="2250" dirty="0"/>
          </a:p>
        </p:txBody>
      </p:sp>
      <p:sp>
        <p:nvSpPr>
          <p:cNvPr id="26" name="Text 1"/>
          <p:cNvSpPr/>
          <p:nvPr/>
        </p:nvSpPr>
        <p:spPr>
          <a:xfrm>
            <a:off x="1066800" y="1276350"/>
            <a:ext cx="341507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Standard Embeddings</a:t>
            </a:r>
            <a:endParaRPr lang="en-US" sz="1800" dirty="0"/>
          </a:p>
        </p:txBody>
      </p:sp>
      <p:sp>
        <p:nvSpPr>
          <p:cNvPr id="27" name="Text 2"/>
          <p:cNvSpPr/>
          <p:nvPr/>
        </p:nvSpPr>
        <p:spPr>
          <a:xfrm>
            <a:off x="1066800" y="1733550"/>
            <a:ext cx="5852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Represent a sentence as a single point</a:t>
            </a:r>
            <a:endParaRPr lang="en-US" sz="1200" dirty="0"/>
          </a:p>
        </p:txBody>
      </p:sp>
      <p:sp>
        <p:nvSpPr>
          <p:cNvPr id="28" name="Text 3"/>
          <p:cNvSpPr/>
          <p:nvPr/>
        </p:nvSpPr>
        <p:spPr>
          <a:xfrm>
            <a:off x="1066800" y="2038350"/>
            <a:ext cx="5852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Fixed position in vector space</a:t>
            </a:r>
            <a:endParaRPr lang="en-US" sz="1200" dirty="0"/>
          </a:p>
        </p:txBody>
      </p:sp>
      <p:sp>
        <p:nvSpPr>
          <p:cNvPr id="29" name="Text 4"/>
          <p:cNvSpPr/>
          <p:nvPr/>
        </p:nvSpPr>
        <p:spPr>
          <a:xfrm>
            <a:off x="1066800" y="2343150"/>
            <a:ext cx="5852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No uncertainty quantification</a:t>
            </a:r>
            <a:endParaRPr lang="en-US" sz="1200" dirty="0"/>
          </a:p>
        </p:txBody>
      </p:sp>
      <p:sp>
        <p:nvSpPr>
          <p:cNvPr id="30" name="Text 5"/>
          <p:cNvSpPr/>
          <p:nvPr/>
        </p:nvSpPr>
        <p:spPr>
          <a:xfrm>
            <a:off x="1066800" y="3143250"/>
            <a:ext cx="5229046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Sen2Pro Distribution Embeddings</a:t>
            </a:r>
            <a:endParaRPr lang="en-US" sz="1800" dirty="0"/>
          </a:p>
        </p:txBody>
      </p:sp>
      <p:sp>
        <p:nvSpPr>
          <p:cNvPr id="31" name="Text 6"/>
          <p:cNvSpPr/>
          <p:nvPr/>
        </p:nvSpPr>
        <p:spPr>
          <a:xfrm>
            <a:off x="1066800" y="3600450"/>
            <a:ext cx="5852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Represents a sentence as a distribution</a:t>
            </a:r>
            <a:endParaRPr lang="en-US" sz="1200" dirty="0"/>
          </a:p>
        </p:txBody>
      </p:sp>
      <p:sp>
        <p:nvSpPr>
          <p:cNvPr id="32" name="Text 7"/>
          <p:cNvSpPr/>
          <p:nvPr/>
        </p:nvSpPr>
        <p:spPr>
          <a:xfrm>
            <a:off x="1066800" y="3905250"/>
            <a:ext cx="5852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Captures uncertainty in representation</a:t>
            </a:r>
            <a:endParaRPr lang="en-US" sz="1200" dirty="0"/>
          </a:p>
        </p:txBody>
      </p:sp>
      <p:sp>
        <p:nvSpPr>
          <p:cNvPr id="33" name="Text 8"/>
          <p:cNvSpPr/>
          <p:nvPr/>
        </p:nvSpPr>
        <p:spPr>
          <a:xfrm>
            <a:off x="1066800" y="4210050"/>
            <a:ext cx="58521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Provides mean and covariance matrix</a:t>
            </a:r>
            <a:endParaRPr lang="en-US" sz="1200" dirty="0"/>
          </a:p>
        </p:txBody>
      </p:sp>
      <p:sp>
        <p:nvSpPr>
          <p:cNvPr id="34" name="Text 9"/>
          <p:cNvSpPr/>
          <p:nvPr/>
        </p:nvSpPr>
        <p:spPr>
          <a:xfrm>
            <a:off x="6210300" y="3638550"/>
            <a:ext cx="67208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Why This Matters for Biblical Hebrew</a:t>
            </a:r>
            <a:endParaRPr lang="en-US" sz="1500" dirty="0"/>
          </a:p>
        </p:txBody>
      </p:sp>
      <p:sp>
        <p:nvSpPr>
          <p:cNvPr id="35" name="Text 10"/>
          <p:cNvSpPr/>
          <p:nvPr/>
        </p:nvSpPr>
        <p:spPr>
          <a:xfrm>
            <a:off x="6657975" y="4181475"/>
            <a:ext cx="58039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Uncertainty Awareness:</a:t>
            </a: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Captures ambiguity in ancient texts</a:t>
            </a:r>
            <a:endParaRPr lang="en-US" sz="1200" dirty="0"/>
          </a:p>
        </p:txBody>
      </p:sp>
      <p:sp>
        <p:nvSpPr>
          <p:cNvPr id="36" name="Text 11"/>
          <p:cNvSpPr/>
          <p:nvPr/>
        </p:nvSpPr>
        <p:spPr>
          <a:xfrm>
            <a:off x="6705600" y="4876800"/>
            <a:ext cx="472594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Robustness:</a:t>
            </a: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Better handling of linguistic variation</a:t>
            </a:r>
            <a:endParaRPr lang="en-US" sz="1200" dirty="0"/>
          </a:p>
        </p:txBody>
      </p:sp>
      <p:sp>
        <p:nvSpPr>
          <p:cNvPr id="37" name="Text 12"/>
          <p:cNvSpPr/>
          <p:nvPr/>
        </p:nvSpPr>
        <p:spPr>
          <a:xfrm>
            <a:off x="6657975" y="5572125"/>
            <a:ext cx="465147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Confidence Measures:</a:t>
            </a: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Provides reliability scores</a:t>
            </a:r>
            <a:endParaRPr lang="en-US" sz="1200" dirty="0"/>
          </a:p>
        </p:txBody>
      </p:sp>
      <p:sp>
        <p:nvSpPr>
          <p:cNvPr id="38" name="Text 13"/>
          <p:cNvSpPr/>
          <p:nvPr/>
        </p:nvSpPr>
        <p:spPr>
          <a:xfrm>
            <a:off x="495300" y="6372225"/>
            <a:ext cx="134416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Insight: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"Confidence-aware embeddings" frame semantic representation as a distribution rather than a point.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543050"/>
            <a:ext cx="5600700" cy="1371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733550"/>
            <a:ext cx="571500" cy="571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950" y="1866900"/>
            <a:ext cx="22860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3500" y="2533650"/>
            <a:ext cx="13335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0300" y="1543050"/>
            <a:ext cx="5600700" cy="1371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1733550"/>
            <a:ext cx="571500" cy="571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6538" y="1866900"/>
            <a:ext cx="200025" cy="3048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2800" y="2533650"/>
            <a:ext cx="13335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0" y="3333750"/>
            <a:ext cx="11430000" cy="1028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3971925"/>
            <a:ext cx="15240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24563" y="3971925"/>
            <a:ext cx="142875" cy="152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19838" y="3971925"/>
            <a:ext cx="17145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1000" y="4591050"/>
            <a:ext cx="11430000" cy="5334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381000" y="209550"/>
            <a:ext cx="6305967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Sen2Pro: Sources of Uncertainty</a:t>
            </a:r>
            <a:endParaRPr lang="en-US" sz="2250" dirty="0"/>
          </a:p>
        </p:txBody>
      </p:sp>
      <p:sp>
        <p:nvSpPr>
          <p:cNvPr id="18" name="Text 1"/>
          <p:cNvSpPr/>
          <p:nvPr/>
        </p:nvSpPr>
        <p:spPr>
          <a:xfrm>
            <a:off x="381000" y="1047750"/>
            <a:ext cx="13716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Sen2Pro captures uncertainty in sentence representations through multiple sources.</a:t>
            </a:r>
            <a:endParaRPr lang="en-US" sz="1500" dirty="0"/>
          </a:p>
        </p:txBody>
      </p:sp>
      <p:sp>
        <p:nvSpPr>
          <p:cNvPr id="19" name="Text 2"/>
          <p:cNvSpPr/>
          <p:nvPr/>
        </p:nvSpPr>
        <p:spPr>
          <a:xfrm>
            <a:off x="1333500" y="1733550"/>
            <a:ext cx="419695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Uncertainty</a:t>
            </a:r>
            <a:endParaRPr lang="en-US" sz="1800" dirty="0"/>
          </a:p>
        </p:txBody>
      </p:sp>
      <p:sp>
        <p:nvSpPr>
          <p:cNvPr id="20" name="Text 3"/>
          <p:cNvSpPr/>
          <p:nvPr/>
        </p:nvSpPr>
        <p:spPr>
          <a:xfrm>
            <a:off x="1333500" y="2114550"/>
            <a:ext cx="419695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Uses Monte-Carlo dropout</a:t>
            </a:r>
            <a:endParaRPr lang="en-US" sz="1200" dirty="0"/>
          </a:p>
        </p:txBody>
      </p:sp>
      <p:sp>
        <p:nvSpPr>
          <p:cNvPr id="21" name="Text 4"/>
          <p:cNvSpPr/>
          <p:nvPr/>
        </p:nvSpPr>
        <p:spPr>
          <a:xfrm>
            <a:off x="1543050" y="2495550"/>
            <a:ext cx="394549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Same sentence, multiple stochastic passes</a:t>
            </a:r>
            <a:endParaRPr lang="en-US" sz="1200" dirty="0"/>
          </a:p>
        </p:txBody>
      </p:sp>
      <p:sp>
        <p:nvSpPr>
          <p:cNvPr id="22" name="Text 5"/>
          <p:cNvSpPr/>
          <p:nvPr/>
        </p:nvSpPr>
        <p:spPr>
          <a:xfrm>
            <a:off x="7162800" y="1733550"/>
            <a:ext cx="2788384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Data Uncertainty</a:t>
            </a:r>
            <a:endParaRPr lang="en-US" sz="1800" dirty="0"/>
          </a:p>
        </p:txBody>
      </p:sp>
      <p:sp>
        <p:nvSpPr>
          <p:cNvPr id="23" name="Text 6"/>
          <p:cNvSpPr/>
          <p:nvPr/>
        </p:nvSpPr>
        <p:spPr>
          <a:xfrm>
            <a:off x="7162800" y="2114550"/>
            <a:ext cx="2788384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Uses word-level augmentation</a:t>
            </a:r>
            <a:endParaRPr lang="en-US" sz="1200" dirty="0"/>
          </a:p>
        </p:txBody>
      </p:sp>
      <p:sp>
        <p:nvSpPr>
          <p:cNvPr id="24" name="Text 7"/>
          <p:cNvSpPr/>
          <p:nvPr/>
        </p:nvSpPr>
        <p:spPr>
          <a:xfrm>
            <a:off x="7372350" y="2495550"/>
            <a:ext cx="230385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Slightly varied sentences</a:t>
            </a:r>
            <a:endParaRPr lang="en-US" sz="1200" dirty="0"/>
          </a:p>
        </p:txBody>
      </p:sp>
      <p:sp>
        <p:nvSpPr>
          <p:cNvPr id="25" name="Text 8"/>
          <p:cNvSpPr/>
          <p:nvPr/>
        </p:nvSpPr>
        <p:spPr>
          <a:xfrm>
            <a:off x="571500" y="3524250"/>
            <a:ext cx="11049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Uncertainty Estimation</a:t>
            </a:r>
            <a:endParaRPr lang="en-US" sz="1800" dirty="0"/>
          </a:p>
        </p:txBody>
      </p:sp>
      <p:sp>
        <p:nvSpPr>
          <p:cNvPr id="26" name="Text 9"/>
          <p:cNvSpPr/>
          <p:nvPr/>
        </p:nvSpPr>
        <p:spPr>
          <a:xfrm>
            <a:off x="800100" y="3943350"/>
            <a:ext cx="530066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Estimate mean from samples</a:t>
            </a:r>
            <a:endParaRPr lang="en-US" sz="1200" dirty="0"/>
          </a:p>
        </p:txBody>
      </p:sp>
      <p:sp>
        <p:nvSpPr>
          <p:cNvPr id="27" name="Text 10"/>
          <p:cNvSpPr/>
          <p:nvPr/>
        </p:nvSpPr>
        <p:spPr>
          <a:xfrm>
            <a:off x="6567488" y="3943350"/>
            <a:ext cx="6360795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Estimate covariance from samples</a:t>
            </a:r>
            <a:endParaRPr lang="en-US" sz="1200" dirty="0"/>
          </a:p>
        </p:txBody>
      </p:sp>
      <p:sp>
        <p:nvSpPr>
          <p:cNvPr id="28" name="Text 11"/>
          <p:cNvSpPr/>
          <p:nvPr/>
        </p:nvSpPr>
        <p:spPr>
          <a:xfrm>
            <a:off x="533400" y="4743450"/>
            <a:ext cx="133502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Insight: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Capturing uncertainty improves robustness in Biblical Hebrew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08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285875"/>
            <a:ext cx="2867323" cy="23050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1847850"/>
            <a:ext cx="2358509" cy="457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125" y="1943100"/>
            <a:ext cx="142875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875" y="2381250"/>
            <a:ext cx="2358509" cy="4572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125" y="2476500"/>
            <a:ext cx="171450" cy="2667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2914650"/>
            <a:ext cx="2358509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9125" y="3009900"/>
            <a:ext cx="190500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1000" y="3819525"/>
            <a:ext cx="2867322" cy="25336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3875" y="4381500"/>
            <a:ext cx="2358509" cy="6858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9125" y="4476750"/>
            <a:ext cx="219075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3875" y="5143500"/>
            <a:ext cx="2358509" cy="4572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19125" y="5238750"/>
            <a:ext cx="190500" cy="2667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3875" y="5676900"/>
            <a:ext cx="2358509" cy="4572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9125" y="5772150"/>
            <a:ext cx="190500" cy="2667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381000" y="209550"/>
            <a:ext cx="8507492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Integration: Sen2Pro inside Deep Impostors</a:t>
            </a:r>
            <a:endParaRPr lang="en-US" sz="2250" dirty="0"/>
          </a:p>
        </p:txBody>
      </p:sp>
      <p:sp>
        <p:nvSpPr>
          <p:cNvPr id="21" name="Text 1"/>
          <p:cNvSpPr/>
          <p:nvPr/>
        </p:nvSpPr>
        <p:spPr>
          <a:xfrm>
            <a:off x="381000" y="904875"/>
            <a:ext cx="13716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Replacing deterministic embeddings with probabilistic representations to enhance robustness.</a:t>
            </a:r>
            <a:endParaRPr lang="en-US" sz="1500" dirty="0"/>
          </a:p>
        </p:txBody>
      </p:sp>
      <p:sp>
        <p:nvSpPr>
          <p:cNvPr id="22" name="Text 2"/>
          <p:cNvSpPr/>
          <p:nvPr/>
        </p:nvSpPr>
        <p:spPr>
          <a:xfrm>
            <a:off x="523875" y="1428750"/>
            <a:ext cx="63779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Deep Impostors Framework</a:t>
            </a:r>
            <a:endParaRPr lang="en-US" sz="1800" dirty="0"/>
          </a:p>
        </p:txBody>
      </p:sp>
      <p:sp>
        <p:nvSpPr>
          <p:cNvPr id="23" name="Text 3"/>
          <p:cNvSpPr/>
          <p:nvPr/>
        </p:nvSpPr>
        <p:spPr>
          <a:xfrm>
            <a:off x="876300" y="1962150"/>
            <a:ext cx="171342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Text Segmentation</a:t>
            </a:r>
            <a:endParaRPr lang="en-US" sz="1200" dirty="0"/>
          </a:p>
        </p:txBody>
      </p:sp>
      <p:sp>
        <p:nvSpPr>
          <p:cNvPr id="24" name="Text 4"/>
          <p:cNvSpPr/>
          <p:nvPr/>
        </p:nvSpPr>
        <p:spPr>
          <a:xfrm>
            <a:off x="904875" y="2495550"/>
            <a:ext cx="24142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Deterministic Embeddings</a:t>
            </a:r>
            <a:endParaRPr lang="en-US" sz="1200" dirty="0"/>
          </a:p>
        </p:txBody>
      </p:sp>
      <p:sp>
        <p:nvSpPr>
          <p:cNvPr id="25" name="Text 5"/>
          <p:cNvSpPr/>
          <p:nvPr/>
        </p:nvSpPr>
        <p:spPr>
          <a:xfrm>
            <a:off x="923925" y="3028950"/>
            <a:ext cx="215759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Style Signal Generation</a:t>
            </a:r>
            <a:endParaRPr lang="en-US" sz="1200" dirty="0"/>
          </a:p>
        </p:txBody>
      </p:sp>
      <p:sp>
        <p:nvSpPr>
          <p:cNvPr id="27" name="Text 7"/>
          <p:cNvSpPr/>
          <p:nvPr/>
        </p:nvSpPr>
        <p:spPr>
          <a:xfrm>
            <a:off x="523875" y="3962400"/>
            <a:ext cx="637794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Sen2Pro Enhancement</a:t>
            </a:r>
            <a:endParaRPr lang="en-US" sz="1800" dirty="0"/>
          </a:p>
        </p:txBody>
      </p:sp>
      <p:sp>
        <p:nvSpPr>
          <p:cNvPr id="28" name="Text 8"/>
          <p:cNvSpPr/>
          <p:nvPr/>
        </p:nvSpPr>
        <p:spPr>
          <a:xfrm>
            <a:off x="952500" y="4495800"/>
            <a:ext cx="229582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Probabilistic Embeddings</a:t>
            </a:r>
            <a:endParaRPr lang="en-US" sz="1200" dirty="0"/>
          </a:p>
        </p:txBody>
      </p:sp>
      <p:sp>
        <p:nvSpPr>
          <p:cNvPr id="29" name="Text 9"/>
          <p:cNvSpPr/>
          <p:nvPr/>
        </p:nvSpPr>
        <p:spPr>
          <a:xfrm>
            <a:off x="923925" y="4781550"/>
            <a:ext cx="57835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Mean + Covariance representation</a:t>
            </a:r>
            <a:endParaRPr lang="en-US" sz="1050" dirty="0"/>
          </a:p>
        </p:txBody>
      </p:sp>
      <p:sp>
        <p:nvSpPr>
          <p:cNvPr id="30" name="Text 10"/>
          <p:cNvSpPr/>
          <p:nvPr/>
        </p:nvSpPr>
        <p:spPr>
          <a:xfrm>
            <a:off x="923925" y="5257800"/>
            <a:ext cx="195845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Uncertainty Modeling</a:t>
            </a:r>
            <a:endParaRPr lang="en-US" sz="1200" dirty="0"/>
          </a:p>
        </p:txBody>
      </p:sp>
      <p:sp>
        <p:nvSpPr>
          <p:cNvPr id="31" name="Text 11"/>
          <p:cNvSpPr/>
          <p:nvPr/>
        </p:nvSpPr>
        <p:spPr>
          <a:xfrm>
            <a:off x="923925" y="5791200"/>
            <a:ext cx="195881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Robust Style Analysis</a:t>
            </a:r>
            <a:endParaRPr lang="en-US" sz="1200" dirty="0"/>
          </a:p>
        </p:txBody>
      </p:sp>
      <p:pic>
        <p:nvPicPr>
          <p:cNvPr id="32" name="Picture 31" descr="A diagram of a model&#10;&#10;Description automatically generated">
            <a:extLst>
              <a:ext uri="{FF2B5EF4-FFF2-40B4-BE49-F238E27FC236}">
                <a16:creationId xmlns:a16="http://schemas.microsoft.com/office/drawing/2014/main" id="{2593212C-7C60-8166-5C6C-41E1569B38EA}"/>
              </a:ext>
            </a:extLst>
          </p:cNvPr>
          <p:cNvPicPr>
            <a:picLocks noChangeAspect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46" b="10744"/>
          <a:stretch/>
        </p:blipFill>
        <p:spPr bwMode="auto">
          <a:xfrm>
            <a:off x="3391197" y="1621889"/>
            <a:ext cx="8143700" cy="463752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96277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543050"/>
            <a:ext cx="11430000" cy="1143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543050"/>
            <a:ext cx="666750" cy="6667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1704975"/>
            <a:ext cx="361950" cy="3429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8750" y="249555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3152775"/>
            <a:ext cx="11430000" cy="1143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1500" y="3152775"/>
            <a:ext cx="666750" cy="6667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900" y="3314700"/>
            <a:ext cx="361950" cy="3429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8750" y="4105275"/>
            <a:ext cx="152400" cy="152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000" y="4762500"/>
            <a:ext cx="11430000" cy="914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4762500"/>
            <a:ext cx="666750" cy="6667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5338" y="4924425"/>
            <a:ext cx="219075" cy="3429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8750" y="5486400"/>
            <a:ext cx="15240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1000" y="6143625"/>
            <a:ext cx="11430000" cy="5334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381000" y="209550"/>
            <a:ext cx="705695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Engineering Decisions &amp; Constraints</a:t>
            </a:r>
            <a:endParaRPr lang="en-US" sz="2250" dirty="0"/>
          </a:p>
        </p:txBody>
      </p:sp>
      <p:sp>
        <p:nvSpPr>
          <p:cNvPr id="18" name="Text 1"/>
          <p:cNvSpPr/>
          <p:nvPr/>
        </p:nvSpPr>
        <p:spPr>
          <a:xfrm>
            <a:off x="381000" y="1047750"/>
            <a:ext cx="13716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Key non-functional requirements guiding our technical approach:</a:t>
            </a:r>
            <a:endParaRPr lang="en-US" sz="1500" dirty="0"/>
          </a:p>
        </p:txBody>
      </p:sp>
      <p:sp>
        <p:nvSpPr>
          <p:cNvPr id="19" name="Text 2"/>
          <p:cNvSpPr/>
          <p:nvPr/>
        </p:nvSpPr>
        <p:spPr>
          <a:xfrm>
            <a:off x="1428750" y="1543050"/>
            <a:ext cx="1038225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Signal Stability &amp; Reproducibility</a:t>
            </a:r>
            <a:endParaRPr lang="en-US" sz="1800" dirty="0"/>
          </a:p>
        </p:txBody>
      </p:sp>
      <p:sp>
        <p:nvSpPr>
          <p:cNvPr id="20" name="Text 3"/>
          <p:cNvSpPr/>
          <p:nvPr/>
        </p:nvSpPr>
        <p:spPr>
          <a:xfrm>
            <a:off x="1428750" y="1924050"/>
            <a:ext cx="103822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Ensure consistent style signals across multiple runs. This requires deterministic processing and careful handling of random elements in the pipeline.</a:t>
            </a:r>
            <a:endParaRPr lang="en-US" sz="1200" dirty="0"/>
          </a:p>
        </p:txBody>
      </p:sp>
      <p:sp>
        <p:nvSpPr>
          <p:cNvPr id="21" name="Text 4"/>
          <p:cNvSpPr/>
          <p:nvPr/>
        </p:nvSpPr>
        <p:spPr>
          <a:xfrm>
            <a:off x="1657350" y="2457450"/>
            <a:ext cx="2851606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 fixed random seeds</a:t>
            </a:r>
            <a:endParaRPr lang="en-US" sz="1200" dirty="0"/>
          </a:p>
        </p:txBody>
      </p:sp>
      <p:sp>
        <p:nvSpPr>
          <p:cNvPr id="22" name="Text 5"/>
          <p:cNvSpPr/>
          <p:nvPr/>
        </p:nvSpPr>
        <p:spPr>
          <a:xfrm>
            <a:off x="1428750" y="3152775"/>
            <a:ext cx="124587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Biblical Hebrew Linguistic Sensitivity</a:t>
            </a:r>
            <a:endParaRPr lang="en-US" sz="1800" dirty="0"/>
          </a:p>
        </p:txBody>
      </p:sp>
      <p:sp>
        <p:nvSpPr>
          <p:cNvPr id="23" name="Text 6"/>
          <p:cNvSpPr/>
          <p:nvPr/>
        </p:nvSpPr>
        <p:spPr>
          <a:xfrm>
            <a:off x="1428750" y="3533775"/>
            <a:ext cx="103822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model must account for the specific characteristics of Biblical Hebrew, including archaic spelling, lack of vowels/cantillation, and complex morphology.</a:t>
            </a:r>
            <a:endParaRPr lang="en-US" sz="1200" dirty="0"/>
          </a:p>
        </p:txBody>
      </p:sp>
      <p:sp>
        <p:nvSpPr>
          <p:cNvPr id="24" name="Text 7"/>
          <p:cNvSpPr/>
          <p:nvPr/>
        </p:nvSpPr>
        <p:spPr>
          <a:xfrm>
            <a:off x="1657350" y="4067175"/>
            <a:ext cx="264533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Domain-specific tokenization</a:t>
            </a:r>
            <a:endParaRPr lang="en-US" sz="1200" dirty="0"/>
          </a:p>
        </p:txBody>
      </p:sp>
      <p:sp>
        <p:nvSpPr>
          <p:cNvPr id="25" name="Text 8"/>
          <p:cNvSpPr/>
          <p:nvPr/>
        </p:nvSpPr>
        <p:spPr>
          <a:xfrm>
            <a:off x="1428750" y="4762500"/>
            <a:ext cx="908015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Resource Efficiency &amp; Caching</a:t>
            </a:r>
            <a:endParaRPr lang="en-US" sz="1800" dirty="0"/>
          </a:p>
        </p:txBody>
      </p:sp>
      <p:sp>
        <p:nvSpPr>
          <p:cNvPr id="26" name="Text 9"/>
          <p:cNvSpPr/>
          <p:nvPr/>
        </p:nvSpPr>
        <p:spPr>
          <a:xfrm>
            <a:off x="1428750" y="5143500"/>
            <a:ext cx="10896183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Sampling is expensive; implement caching strategies to store intermediate results and avoid redundant computations.</a:t>
            </a:r>
            <a:endParaRPr lang="en-US" sz="1200" dirty="0"/>
          </a:p>
        </p:txBody>
      </p:sp>
      <p:sp>
        <p:nvSpPr>
          <p:cNvPr id="27" name="Text 10"/>
          <p:cNvSpPr/>
          <p:nvPr/>
        </p:nvSpPr>
        <p:spPr>
          <a:xfrm>
            <a:off x="1657350" y="5448300"/>
            <a:ext cx="420641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 efficient caching with LRU eviction</a:t>
            </a:r>
            <a:endParaRPr lang="en-US" sz="1200" dirty="0"/>
          </a:p>
        </p:txBody>
      </p:sp>
      <p:sp>
        <p:nvSpPr>
          <p:cNvPr id="28" name="Text 11"/>
          <p:cNvSpPr/>
          <p:nvPr/>
        </p:nvSpPr>
        <p:spPr>
          <a:xfrm>
            <a:off x="533400" y="6296025"/>
            <a:ext cx="133502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Engineering Focus: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These constraints ensure our system is not only theoretically sound but also practically viable for analyzing the Torah text.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2881313"/>
            <a:ext cx="9144000" cy="2857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1695450"/>
            <a:ext cx="2743200" cy="22098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8125" y="1552575"/>
            <a:ext cx="381000" cy="3810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2000250"/>
            <a:ext cx="571500" cy="5715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950" y="2133600"/>
            <a:ext cx="228600" cy="3048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76600" y="1695450"/>
            <a:ext cx="2743200" cy="2209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33725" y="1552575"/>
            <a:ext cx="381000" cy="3810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67100" y="1885950"/>
            <a:ext cx="571500" cy="5715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52838" y="2019300"/>
            <a:ext cx="200025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72200" y="1695450"/>
            <a:ext cx="2743200" cy="22098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9325" y="1552575"/>
            <a:ext cx="381000" cy="381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62700" y="1885950"/>
            <a:ext cx="571500" cy="5715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05575" y="2019300"/>
            <a:ext cx="285750" cy="304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67800" y="1695450"/>
            <a:ext cx="2743200" cy="2209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24925" y="1552575"/>
            <a:ext cx="381000" cy="3810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58300" y="1885950"/>
            <a:ext cx="571500" cy="5715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44038" y="2019300"/>
            <a:ext cx="200025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1000" y="4476750"/>
            <a:ext cx="11430000" cy="533400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381000" y="209550"/>
            <a:ext cx="5164931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Plan of Execution (Phases)</a:t>
            </a:r>
            <a:endParaRPr lang="en-US" sz="2250" dirty="0"/>
          </a:p>
        </p:txBody>
      </p:sp>
      <p:sp>
        <p:nvSpPr>
          <p:cNvPr id="23" name="Text 1"/>
          <p:cNvSpPr/>
          <p:nvPr/>
        </p:nvSpPr>
        <p:spPr>
          <a:xfrm>
            <a:off x="381000" y="1047750"/>
            <a:ext cx="13716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Our implementation follows a structured four-phase approach to ensure systematic development and validation.</a:t>
            </a:r>
            <a:endParaRPr lang="en-US" sz="1500" dirty="0"/>
          </a:p>
        </p:txBody>
      </p:sp>
      <p:sp>
        <p:nvSpPr>
          <p:cNvPr id="24" name="Text 2"/>
          <p:cNvSpPr/>
          <p:nvPr/>
        </p:nvSpPr>
        <p:spPr>
          <a:xfrm>
            <a:off x="349002" y="1552575"/>
            <a:ext cx="457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</a:t>
            </a:r>
            <a:endParaRPr lang="en-US" sz="1800" dirty="0"/>
          </a:p>
        </p:txBody>
      </p:sp>
      <p:sp>
        <p:nvSpPr>
          <p:cNvPr id="25" name="Text 3"/>
          <p:cNvSpPr/>
          <p:nvPr/>
        </p:nvSpPr>
        <p:spPr>
          <a:xfrm>
            <a:off x="1333500" y="1885950"/>
            <a:ext cx="1600200" cy="8001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Model Selection &amp; Validation</a:t>
            </a:r>
            <a:endParaRPr lang="en-US" sz="1500" dirty="0"/>
          </a:p>
        </p:txBody>
      </p:sp>
      <p:sp>
        <p:nvSpPr>
          <p:cNvPr id="26" name="Text 4"/>
          <p:cNvSpPr/>
          <p:nvPr/>
        </p:nvSpPr>
        <p:spPr>
          <a:xfrm>
            <a:off x="609600" y="2800350"/>
            <a:ext cx="2788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Tokenization validation</a:t>
            </a:r>
            <a:endParaRPr lang="en-US" sz="1200" dirty="0"/>
          </a:p>
        </p:txBody>
      </p:sp>
      <p:sp>
        <p:nvSpPr>
          <p:cNvPr id="27" name="Text 5"/>
          <p:cNvSpPr/>
          <p:nvPr/>
        </p:nvSpPr>
        <p:spPr>
          <a:xfrm>
            <a:off x="609600" y="3028950"/>
            <a:ext cx="2788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Stability checks</a:t>
            </a:r>
            <a:endParaRPr lang="en-US" sz="1200" dirty="0"/>
          </a:p>
        </p:txBody>
      </p:sp>
      <p:sp>
        <p:nvSpPr>
          <p:cNvPr id="28" name="Text 6"/>
          <p:cNvSpPr/>
          <p:nvPr/>
        </p:nvSpPr>
        <p:spPr>
          <a:xfrm>
            <a:off x="609600" y="3257550"/>
            <a:ext cx="2324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Baseline performance metrics</a:t>
            </a:r>
            <a:endParaRPr lang="en-US" sz="1200" dirty="0"/>
          </a:p>
        </p:txBody>
      </p:sp>
      <p:sp>
        <p:nvSpPr>
          <p:cNvPr id="29" name="Text 7"/>
          <p:cNvSpPr/>
          <p:nvPr/>
        </p:nvSpPr>
        <p:spPr>
          <a:xfrm>
            <a:off x="3244602" y="1552575"/>
            <a:ext cx="457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1800" dirty="0"/>
          </a:p>
        </p:txBody>
      </p:sp>
      <p:sp>
        <p:nvSpPr>
          <p:cNvPr id="30" name="Text 8"/>
          <p:cNvSpPr/>
          <p:nvPr/>
        </p:nvSpPr>
        <p:spPr>
          <a:xfrm>
            <a:off x="4229100" y="1905000"/>
            <a:ext cx="160020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Impostor Data Collection</a:t>
            </a:r>
            <a:endParaRPr lang="en-US" sz="1500" dirty="0"/>
          </a:p>
        </p:txBody>
      </p:sp>
      <p:sp>
        <p:nvSpPr>
          <p:cNvPr id="31" name="Text 9"/>
          <p:cNvSpPr/>
          <p:nvPr/>
        </p:nvSpPr>
        <p:spPr>
          <a:xfrm>
            <a:off x="3505200" y="2571750"/>
            <a:ext cx="2324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Gather diverse text samples</a:t>
            </a:r>
            <a:endParaRPr lang="en-US" sz="1200" dirty="0"/>
          </a:p>
        </p:txBody>
      </p:sp>
      <p:sp>
        <p:nvSpPr>
          <p:cNvPr id="32" name="Text 10"/>
          <p:cNvSpPr/>
          <p:nvPr/>
        </p:nvSpPr>
        <p:spPr>
          <a:xfrm>
            <a:off x="3505200" y="3028950"/>
            <a:ext cx="2788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 impostor collections</a:t>
            </a:r>
            <a:endParaRPr lang="en-US" sz="1200" dirty="0"/>
          </a:p>
        </p:txBody>
      </p:sp>
      <p:sp>
        <p:nvSpPr>
          <p:cNvPr id="33" name="Text 11"/>
          <p:cNvSpPr/>
          <p:nvPr/>
        </p:nvSpPr>
        <p:spPr>
          <a:xfrm>
            <a:off x="3505200" y="3257550"/>
            <a:ext cx="2788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Ensure linguistic diversity</a:t>
            </a:r>
            <a:endParaRPr lang="en-US" sz="1200" dirty="0"/>
          </a:p>
        </p:txBody>
      </p:sp>
      <p:sp>
        <p:nvSpPr>
          <p:cNvPr id="34" name="Text 12"/>
          <p:cNvSpPr/>
          <p:nvPr/>
        </p:nvSpPr>
        <p:spPr>
          <a:xfrm>
            <a:off x="6140202" y="1552575"/>
            <a:ext cx="457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1800" dirty="0"/>
          </a:p>
        </p:txBody>
      </p:sp>
      <p:sp>
        <p:nvSpPr>
          <p:cNvPr id="35" name="Text 13"/>
          <p:cNvSpPr/>
          <p:nvPr/>
        </p:nvSpPr>
        <p:spPr>
          <a:xfrm>
            <a:off x="7124700" y="1905000"/>
            <a:ext cx="1706017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Pipeline Implementation</a:t>
            </a:r>
            <a:endParaRPr lang="en-US" sz="1500" dirty="0"/>
          </a:p>
        </p:txBody>
      </p:sp>
      <p:sp>
        <p:nvSpPr>
          <p:cNvPr id="36" name="Text 14"/>
          <p:cNvSpPr/>
          <p:nvPr/>
        </p:nvSpPr>
        <p:spPr>
          <a:xfrm>
            <a:off x="6400800" y="2571750"/>
            <a:ext cx="2788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 core pipeline</a:t>
            </a:r>
            <a:endParaRPr lang="en-US" sz="1200" dirty="0"/>
          </a:p>
        </p:txBody>
      </p:sp>
      <p:sp>
        <p:nvSpPr>
          <p:cNvPr id="37" name="Text 15"/>
          <p:cNvSpPr/>
          <p:nvPr/>
        </p:nvSpPr>
        <p:spPr>
          <a:xfrm>
            <a:off x="6400800" y="2800350"/>
            <a:ext cx="2788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Add Sen2Pro module</a:t>
            </a:r>
            <a:endParaRPr lang="en-US" sz="1200" dirty="0"/>
          </a:p>
        </p:txBody>
      </p:sp>
      <p:sp>
        <p:nvSpPr>
          <p:cNvPr id="38" name="Text 16"/>
          <p:cNvSpPr/>
          <p:nvPr/>
        </p:nvSpPr>
        <p:spPr>
          <a:xfrm>
            <a:off x="6400800" y="3028950"/>
            <a:ext cx="2788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Integration testing</a:t>
            </a:r>
            <a:endParaRPr lang="en-US" sz="1200" dirty="0"/>
          </a:p>
        </p:txBody>
      </p:sp>
      <p:sp>
        <p:nvSpPr>
          <p:cNvPr id="39" name="Text 17"/>
          <p:cNvSpPr/>
          <p:nvPr/>
        </p:nvSpPr>
        <p:spPr>
          <a:xfrm>
            <a:off x="9035802" y="1552575"/>
            <a:ext cx="4572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4</a:t>
            </a:r>
            <a:endParaRPr lang="en-US" sz="1800" dirty="0"/>
          </a:p>
        </p:txBody>
      </p:sp>
      <p:sp>
        <p:nvSpPr>
          <p:cNvPr id="40" name="Text 18"/>
          <p:cNvSpPr/>
          <p:nvPr/>
        </p:nvSpPr>
        <p:spPr>
          <a:xfrm>
            <a:off x="10020300" y="1905000"/>
            <a:ext cx="1783705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Experimentation &amp; Optimization</a:t>
            </a:r>
            <a:endParaRPr lang="en-US" sz="1500" dirty="0"/>
          </a:p>
        </p:txBody>
      </p:sp>
      <p:sp>
        <p:nvSpPr>
          <p:cNvPr id="41" name="Text 19"/>
          <p:cNvSpPr/>
          <p:nvPr/>
        </p:nvSpPr>
        <p:spPr>
          <a:xfrm>
            <a:off x="9296400" y="2571750"/>
            <a:ext cx="2788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Batch size tuning</a:t>
            </a:r>
            <a:endParaRPr lang="en-US" sz="1200" dirty="0"/>
          </a:p>
        </p:txBody>
      </p:sp>
      <p:sp>
        <p:nvSpPr>
          <p:cNvPr id="42" name="Text 20"/>
          <p:cNvSpPr/>
          <p:nvPr/>
        </p:nvSpPr>
        <p:spPr>
          <a:xfrm>
            <a:off x="9296400" y="2800350"/>
            <a:ext cx="23241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Sampling count optimization</a:t>
            </a:r>
            <a:endParaRPr lang="en-US" sz="1200" dirty="0"/>
          </a:p>
        </p:txBody>
      </p:sp>
      <p:sp>
        <p:nvSpPr>
          <p:cNvPr id="43" name="Text 21"/>
          <p:cNvSpPr/>
          <p:nvPr/>
        </p:nvSpPr>
        <p:spPr>
          <a:xfrm>
            <a:off x="9296400" y="3257550"/>
            <a:ext cx="27889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Robustness validation</a:t>
            </a:r>
            <a:endParaRPr lang="en-US" sz="1200" dirty="0"/>
          </a:p>
        </p:txBody>
      </p:sp>
      <p:sp>
        <p:nvSpPr>
          <p:cNvPr id="44" name="Text 22"/>
          <p:cNvSpPr/>
          <p:nvPr/>
        </p:nvSpPr>
        <p:spPr>
          <a:xfrm>
            <a:off x="533400" y="4629150"/>
            <a:ext cx="133502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Implementation Focus: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Each phase includes validation to ensure reproducibility and scientific rigor throughout the development process.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504950"/>
            <a:ext cx="5600700" cy="609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875" y="1543050"/>
            <a:ext cx="200025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0300" y="1504950"/>
            <a:ext cx="5600700" cy="6096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3175" y="1543050"/>
            <a:ext cx="228600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0" y="2486025"/>
            <a:ext cx="228600" cy="2286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2867025"/>
            <a:ext cx="457200" cy="4572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8675" y="2962275"/>
            <a:ext cx="171450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44901" y="2867025"/>
            <a:ext cx="457200" cy="4572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63963" y="2962275"/>
            <a:ext cx="219075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04150" y="2867025"/>
            <a:ext cx="457200" cy="4572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37500" y="2962275"/>
            <a:ext cx="190500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81000" y="3648075"/>
            <a:ext cx="228600" cy="2286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5800" y="4029075"/>
            <a:ext cx="3606701" cy="952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00100" y="4181475"/>
            <a:ext cx="238125" cy="190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44901" y="4029075"/>
            <a:ext cx="3606850" cy="9525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59201" y="4181475"/>
            <a:ext cx="190500" cy="1905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04150" y="4029075"/>
            <a:ext cx="3606701" cy="9525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18450" y="4181475"/>
            <a:ext cx="190500" cy="1905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81000" y="5267325"/>
            <a:ext cx="11430000" cy="762000"/>
          </a:xfrm>
          <a:prstGeom prst="rect">
            <a:avLst/>
          </a:prstGeom>
        </p:spPr>
      </p:pic>
      <p:sp>
        <p:nvSpPr>
          <p:cNvPr id="23" name="Text 0"/>
          <p:cNvSpPr/>
          <p:nvPr/>
        </p:nvSpPr>
        <p:spPr>
          <a:xfrm>
            <a:off x="381000" y="209550"/>
            <a:ext cx="3977283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Testing &amp; Evaluation</a:t>
            </a:r>
            <a:endParaRPr lang="en-US" sz="2250" dirty="0"/>
          </a:p>
        </p:txBody>
      </p:sp>
      <p:sp>
        <p:nvSpPr>
          <p:cNvPr id="24" name="Text 1"/>
          <p:cNvSpPr/>
          <p:nvPr/>
        </p:nvSpPr>
        <p:spPr>
          <a:xfrm>
            <a:off x="381000" y="1047750"/>
            <a:ext cx="13716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Comparative analysis of model versions across multiple granularity levels using specific metrics.</a:t>
            </a:r>
            <a:endParaRPr lang="en-US" sz="1500" dirty="0"/>
          </a:p>
        </p:txBody>
      </p:sp>
      <p:sp>
        <p:nvSpPr>
          <p:cNvPr id="25" name="Text 2"/>
          <p:cNvSpPr/>
          <p:nvPr/>
        </p:nvSpPr>
        <p:spPr>
          <a:xfrm>
            <a:off x="838200" y="1504950"/>
            <a:ext cx="545782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Baseline Model</a:t>
            </a:r>
            <a:endParaRPr lang="en-US" sz="1800" dirty="0"/>
          </a:p>
        </p:txBody>
      </p:sp>
      <p:sp>
        <p:nvSpPr>
          <p:cNvPr id="26" name="Text 3"/>
          <p:cNvSpPr/>
          <p:nvPr/>
        </p:nvSpPr>
        <p:spPr>
          <a:xfrm>
            <a:off x="828675" y="1885950"/>
            <a:ext cx="61836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Components: Deep Impostors + deterministic embeddings</a:t>
            </a:r>
            <a:endParaRPr lang="en-US" sz="1200" dirty="0"/>
          </a:p>
        </p:txBody>
      </p:sp>
      <p:sp>
        <p:nvSpPr>
          <p:cNvPr id="27" name="Text 4"/>
          <p:cNvSpPr/>
          <p:nvPr/>
        </p:nvSpPr>
        <p:spPr>
          <a:xfrm>
            <a:off x="6696075" y="1504950"/>
            <a:ext cx="545782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Enhanced Model</a:t>
            </a:r>
            <a:endParaRPr lang="en-US" sz="1800" dirty="0"/>
          </a:p>
        </p:txBody>
      </p:sp>
      <p:sp>
        <p:nvSpPr>
          <p:cNvPr id="28" name="Text 5"/>
          <p:cNvSpPr/>
          <p:nvPr/>
        </p:nvSpPr>
        <p:spPr>
          <a:xfrm>
            <a:off x="6657975" y="1885950"/>
            <a:ext cx="618363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Components: Deep Impostors + Sen2Pro</a:t>
            </a:r>
            <a:endParaRPr lang="en-US" sz="1200" dirty="0"/>
          </a:p>
        </p:txBody>
      </p:sp>
      <p:sp>
        <p:nvSpPr>
          <p:cNvPr id="29" name="Text 6"/>
          <p:cNvSpPr/>
          <p:nvPr/>
        </p:nvSpPr>
        <p:spPr>
          <a:xfrm>
            <a:off x="723900" y="2447925"/>
            <a:ext cx="11430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Multi-granularity Analysis</a:t>
            </a:r>
            <a:endParaRPr lang="en-US" sz="1800" dirty="0"/>
          </a:p>
        </p:txBody>
      </p:sp>
      <p:sp>
        <p:nvSpPr>
          <p:cNvPr id="30" name="Text 7"/>
          <p:cNvSpPr/>
          <p:nvPr/>
        </p:nvSpPr>
        <p:spPr>
          <a:xfrm>
            <a:off x="1257300" y="2962275"/>
            <a:ext cx="106674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Book level</a:t>
            </a:r>
            <a:endParaRPr lang="en-US" sz="1350" dirty="0"/>
          </a:p>
        </p:txBody>
      </p:sp>
      <p:sp>
        <p:nvSpPr>
          <p:cNvPr id="31" name="Text 8"/>
          <p:cNvSpPr/>
          <p:nvPr/>
        </p:nvSpPr>
        <p:spPr>
          <a:xfrm>
            <a:off x="5016401" y="2962275"/>
            <a:ext cx="137731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Chapter level</a:t>
            </a:r>
            <a:endParaRPr lang="en-US" sz="1350" dirty="0"/>
          </a:p>
        </p:txBody>
      </p:sp>
      <p:sp>
        <p:nvSpPr>
          <p:cNvPr id="32" name="Text 9"/>
          <p:cNvSpPr/>
          <p:nvPr/>
        </p:nvSpPr>
        <p:spPr>
          <a:xfrm>
            <a:off x="8775650" y="2962275"/>
            <a:ext cx="1480542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Segment level</a:t>
            </a:r>
            <a:endParaRPr lang="en-US" sz="1350" dirty="0"/>
          </a:p>
        </p:txBody>
      </p:sp>
      <p:sp>
        <p:nvSpPr>
          <p:cNvPr id="33" name="Text 10"/>
          <p:cNvSpPr/>
          <p:nvPr/>
        </p:nvSpPr>
        <p:spPr>
          <a:xfrm>
            <a:off x="723900" y="3609975"/>
            <a:ext cx="11430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Success Metrics</a:t>
            </a:r>
            <a:endParaRPr lang="en-US" sz="1800" dirty="0"/>
          </a:p>
        </p:txBody>
      </p:sp>
      <p:sp>
        <p:nvSpPr>
          <p:cNvPr id="34" name="Text 11"/>
          <p:cNvSpPr/>
          <p:nvPr/>
        </p:nvSpPr>
        <p:spPr>
          <a:xfrm>
            <a:off x="1114425" y="4143375"/>
            <a:ext cx="337810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Stability</a:t>
            </a:r>
            <a:endParaRPr lang="en-US" sz="1500" dirty="0"/>
          </a:p>
        </p:txBody>
      </p:sp>
      <p:sp>
        <p:nvSpPr>
          <p:cNvPr id="35" name="Text 12"/>
          <p:cNvSpPr/>
          <p:nvPr/>
        </p:nvSpPr>
        <p:spPr>
          <a:xfrm>
            <a:off x="800100" y="4410075"/>
            <a:ext cx="405372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Consistency of style signals across analyses</a:t>
            </a:r>
            <a:endParaRPr lang="en-US" sz="1200" dirty="0"/>
          </a:p>
        </p:txBody>
      </p:sp>
      <p:sp>
        <p:nvSpPr>
          <p:cNvPr id="36" name="Text 13"/>
          <p:cNvSpPr/>
          <p:nvPr/>
        </p:nvSpPr>
        <p:spPr>
          <a:xfrm>
            <a:off x="4825901" y="4143375"/>
            <a:ext cx="40539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Cluster Consistency</a:t>
            </a:r>
            <a:endParaRPr lang="en-US" sz="1500" dirty="0"/>
          </a:p>
        </p:txBody>
      </p:sp>
      <p:sp>
        <p:nvSpPr>
          <p:cNvPr id="37" name="Text 14"/>
          <p:cNvSpPr/>
          <p:nvPr/>
        </p:nvSpPr>
        <p:spPr>
          <a:xfrm>
            <a:off x="4559201" y="4410075"/>
            <a:ext cx="40539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Homogeneity of clustered text segments</a:t>
            </a:r>
            <a:endParaRPr lang="en-US" sz="1200" dirty="0"/>
          </a:p>
        </p:txBody>
      </p:sp>
      <p:sp>
        <p:nvSpPr>
          <p:cNvPr id="38" name="Text 15"/>
          <p:cNvSpPr/>
          <p:nvPr/>
        </p:nvSpPr>
        <p:spPr>
          <a:xfrm>
            <a:off x="8585150" y="4143375"/>
            <a:ext cx="4053721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Uncertainty Correlation</a:t>
            </a:r>
            <a:endParaRPr lang="en-US" sz="1500" dirty="0"/>
          </a:p>
        </p:txBody>
      </p:sp>
      <p:sp>
        <p:nvSpPr>
          <p:cNvPr id="39" name="Text 16"/>
          <p:cNvSpPr/>
          <p:nvPr/>
        </p:nvSpPr>
        <p:spPr>
          <a:xfrm>
            <a:off x="8318450" y="4410075"/>
            <a:ext cx="3378101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Relationship between model uncertainty and accuracy</a:t>
            </a:r>
            <a:endParaRPr lang="en-US" sz="1200" dirty="0"/>
          </a:p>
        </p:txBody>
      </p:sp>
      <p:sp>
        <p:nvSpPr>
          <p:cNvPr id="40" name="Text 17"/>
          <p:cNvSpPr/>
          <p:nvPr/>
        </p:nvSpPr>
        <p:spPr>
          <a:xfrm>
            <a:off x="533400" y="5419725"/>
            <a:ext cx="11125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Evaluation Approach: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We assess model performance across multiple levels and metrics to validate effectiveness without requiring absolute "ground truth" labels.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047750"/>
            <a:ext cx="3657600" cy="42481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1304925"/>
            <a:ext cx="476250" cy="4762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1390650"/>
            <a:ext cx="17145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2000250"/>
            <a:ext cx="152400" cy="1524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" y="2571750"/>
            <a:ext cx="152400" cy="152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143250"/>
            <a:ext cx="3276600" cy="11049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3524250"/>
            <a:ext cx="1218456" cy="2667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2000" y="3590925"/>
            <a:ext cx="171450" cy="1333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80456" y="3524250"/>
            <a:ext cx="1515219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56656" y="3590925"/>
            <a:ext cx="133350" cy="13335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3867150"/>
            <a:ext cx="1394222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000" y="3933825"/>
            <a:ext cx="133350" cy="13335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67200" y="1047750"/>
            <a:ext cx="3657600" cy="424815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57700" y="1304925"/>
            <a:ext cx="476250" cy="47625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581525" y="1390650"/>
            <a:ext cx="228600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57700" y="1962150"/>
            <a:ext cx="381000" cy="3810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552950" y="2076450"/>
            <a:ext cx="190500" cy="1524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457700" y="3067050"/>
            <a:ext cx="381000" cy="3810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572000" y="3181350"/>
            <a:ext cx="1524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457700" y="4171950"/>
            <a:ext cx="381000" cy="3810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72000" y="4286250"/>
            <a:ext cx="152400" cy="1524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53400" y="1047750"/>
            <a:ext cx="3657600" cy="424815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343900" y="1238250"/>
            <a:ext cx="476250" cy="47625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67725" y="1323975"/>
            <a:ext cx="228600" cy="3048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43900" y="1828800"/>
            <a:ext cx="3276600" cy="9906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43900" y="2971800"/>
            <a:ext cx="3276600" cy="9906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343900" y="4114800"/>
            <a:ext cx="3276600" cy="990600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81000" y="5715000"/>
            <a:ext cx="11430000" cy="762000"/>
          </a:xfrm>
          <a:prstGeom prst="rect">
            <a:avLst/>
          </a:prstGeom>
        </p:spPr>
      </p:pic>
      <p:sp>
        <p:nvSpPr>
          <p:cNvPr id="32" name="Text 0"/>
          <p:cNvSpPr/>
          <p:nvPr/>
        </p:nvSpPr>
        <p:spPr>
          <a:xfrm>
            <a:off x="381000" y="209550"/>
            <a:ext cx="9068098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Contribution, Expected Challenges, Next Steps</a:t>
            </a:r>
            <a:endParaRPr lang="en-US" sz="2250" dirty="0"/>
          </a:p>
        </p:txBody>
      </p:sp>
      <p:sp>
        <p:nvSpPr>
          <p:cNvPr id="33" name="Text 1"/>
          <p:cNvSpPr/>
          <p:nvPr/>
        </p:nvSpPr>
        <p:spPr>
          <a:xfrm>
            <a:off x="1190625" y="1238250"/>
            <a:ext cx="2657475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Novelty / Contribution</a:t>
            </a:r>
            <a:endParaRPr lang="en-US" sz="1800" dirty="0"/>
          </a:p>
        </p:txBody>
      </p:sp>
      <p:sp>
        <p:nvSpPr>
          <p:cNvPr id="34" name="Text 2"/>
          <p:cNvSpPr/>
          <p:nvPr/>
        </p:nvSpPr>
        <p:spPr>
          <a:xfrm>
            <a:off x="876300" y="1962150"/>
            <a:ext cx="2971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Deep Impostors adapted from modern English literature to Biblical Hebrew</a:t>
            </a:r>
            <a:endParaRPr lang="en-US" sz="1200" dirty="0"/>
          </a:p>
        </p:txBody>
      </p:sp>
      <p:sp>
        <p:nvSpPr>
          <p:cNvPr id="35" name="Text 3"/>
          <p:cNvSpPr/>
          <p:nvPr/>
        </p:nvSpPr>
        <p:spPr>
          <a:xfrm>
            <a:off x="876300" y="2533650"/>
            <a:ext cx="29718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Adds uncertainty-aware embeddings to improve robustness</a:t>
            </a:r>
            <a:endParaRPr lang="en-US" sz="1200" dirty="0"/>
          </a:p>
        </p:txBody>
      </p:sp>
      <p:sp>
        <p:nvSpPr>
          <p:cNvPr id="36" name="Text 4"/>
          <p:cNvSpPr/>
          <p:nvPr/>
        </p:nvSpPr>
        <p:spPr>
          <a:xfrm>
            <a:off x="685800" y="3257550"/>
            <a:ext cx="3657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Expected Outputs:</a:t>
            </a:r>
            <a:endParaRPr lang="en-US" sz="1200" dirty="0"/>
          </a:p>
        </p:txBody>
      </p:sp>
      <p:sp>
        <p:nvSpPr>
          <p:cNvPr id="37" name="Text 5"/>
          <p:cNvSpPr/>
          <p:nvPr/>
        </p:nvSpPr>
        <p:spPr>
          <a:xfrm>
            <a:off x="971550" y="3524250"/>
            <a:ext cx="1462147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Style Signals</a:t>
            </a:r>
            <a:endParaRPr lang="en-US" sz="1050" dirty="0"/>
          </a:p>
        </p:txBody>
      </p:sp>
      <p:sp>
        <p:nvSpPr>
          <p:cNvPr id="38" name="Text 6"/>
          <p:cNvSpPr/>
          <p:nvPr/>
        </p:nvSpPr>
        <p:spPr>
          <a:xfrm>
            <a:off x="2228106" y="3524250"/>
            <a:ext cx="1818263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Distance Matrices</a:t>
            </a:r>
            <a:endParaRPr lang="en-US" sz="1050" dirty="0"/>
          </a:p>
        </p:txBody>
      </p:sp>
      <p:sp>
        <p:nvSpPr>
          <p:cNvPr id="39" name="Text 7"/>
          <p:cNvSpPr/>
          <p:nvPr/>
        </p:nvSpPr>
        <p:spPr>
          <a:xfrm>
            <a:off x="933450" y="3867150"/>
            <a:ext cx="167306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Anomaly Scores</a:t>
            </a:r>
            <a:endParaRPr lang="en-US" sz="1050" dirty="0"/>
          </a:p>
        </p:txBody>
      </p:sp>
      <p:sp>
        <p:nvSpPr>
          <p:cNvPr id="40" name="Text 8"/>
          <p:cNvSpPr/>
          <p:nvPr/>
        </p:nvSpPr>
        <p:spPr>
          <a:xfrm>
            <a:off x="5076825" y="1238250"/>
            <a:ext cx="2657475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Expected Challenges</a:t>
            </a:r>
            <a:endParaRPr lang="en-US" sz="1800" dirty="0"/>
          </a:p>
        </p:txBody>
      </p:sp>
      <p:sp>
        <p:nvSpPr>
          <p:cNvPr id="41" name="Text 9"/>
          <p:cNvSpPr/>
          <p:nvPr/>
        </p:nvSpPr>
        <p:spPr>
          <a:xfrm>
            <a:off x="4953000" y="1962150"/>
            <a:ext cx="33375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Linguistic Complexity</a:t>
            </a:r>
            <a:endParaRPr lang="en-US" sz="1350" dirty="0"/>
          </a:p>
        </p:txBody>
      </p:sp>
      <p:sp>
        <p:nvSpPr>
          <p:cNvPr id="42" name="Text 10"/>
          <p:cNvSpPr/>
          <p:nvPr/>
        </p:nvSpPr>
        <p:spPr>
          <a:xfrm>
            <a:off x="4953000" y="2228850"/>
            <a:ext cx="27813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Hebrew text requires specialized tokenization and morphological analysis</a:t>
            </a:r>
            <a:endParaRPr lang="en-US" sz="1200" dirty="0"/>
          </a:p>
        </p:txBody>
      </p:sp>
      <p:sp>
        <p:nvSpPr>
          <p:cNvPr id="43" name="Text 11"/>
          <p:cNvSpPr/>
          <p:nvPr/>
        </p:nvSpPr>
        <p:spPr>
          <a:xfrm>
            <a:off x="4953000" y="3067050"/>
            <a:ext cx="33375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Computational Load</a:t>
            </a:r>
            <a:endParaRPr lang="en-US" sz="1350" dirty="0"/>
          </a:p>
        </p:txBody>
      </p:sp>
      <p:sp>
        <p:nvSpPr>
          <p:cNvPr id="44" name="Text 12"/>
          <p:cNvSpPr/>
          <p:nvPr/>
        </p:nvSpPr>
        <p:spPr>
          <a:xfrm>
            <a:off x="4953000" y="3333750"/>
            <a:ext cx="27813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Uncertainty sampling and signal processing demands significant resources</a:t>
            </a:r>
            <a:endParaRPr lang="en-US" sz="1200" dirty="0"/>
          </a:p>
        </p:txBody>
      </p:sp>
      <p:sp>
        <p:nvSpPr>
          <p:cNvPr id="45" name="Text 13"/>
          <p:cNvSpPr/>
          <p:nvPr/>
        </p:nvSpPr>
        <p:spPr>
          <a:xfrm>
            <a:off x="4953000" y="4171950"/>
            <a:ext cx="33375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Stochastic Stability</a:t>
            </a:r>
            <a:endParaRPr lang="en-US" sz="1350" dirty="0"/>
          </a:p>
        </p:txBody>
      </p:sp>
      <p:sp>
        <p:nvSpPr>
          <p:cNvPr id="46" name="Text 14"/>
          <p:cNvSpPr/>
          <p:nvPr/>
        </p:nvSpPr>
        <p:spPr>
          <a:xfrm>
            <a:off x="4953000" y="4438650"/>
            <a:ext cx="27813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Ensuring consistent results across random sampling iterations</a:t>
            </a:r>
            <a:endParaRPr lang="en-US" sz="1200" dirty="0"/>
          </a:p>
        </p:txBody>
      </p:sp>
      <p:sp>
        <p:nvSpPr>
          <p:cNvPr id="47" name="Text 15"/>
          <p:cNvSpPr/>
          <p:nvPr/>
        </p:nvSpPr>
        <p:spPr>
          <a:xfrm>
            <a:off x="8963025" y="1323975"/>
            <a:ext cx="1693605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48" name="Text 16"/>
          <p:cNvSpPr/>
          <p:nvPr/>
        </p:nvSpPr>
        <p:spPr>
          <a:xfrm>
            <a:off x="8458200" y="1943100"/>
            <a:ext cx="3048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Implementation</a:t>
            </a:r>
            <a:endParaRPr lang="en-US" sz="1350" dirty="0"/>
          </a:p>
        </p:txBody>
      </p:sp>
      <p:sp>
        <p:nvSpPr>
          <p:cNvPr id="49" name="Text 17"/>
          <p:cNvSpPr/>
          <p:nvPr/>
        </p:nvSpPr>
        <p:spPr>
          <a:xfrm>
            <a:off x="8458200" y="2247900"/>
            <a:ext cx="3048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Develop and integrate Sen2Pro module into the Deep Impostors framework</a:t>
            </a:r>
            <a:endParaRPr lang="en-US" sz="1200" dirty="0"/>
          </a:p>
        </p:txBody>
      </p:sp>
      <p:sp>
        <p:nvSpPr>
          <p:cNvPr id="50" name="Text 18"/>
          <p:cNvSpPr/>
          <p:nvPr/>
        </p:nvSpPr>
        <p:spPr>
          <a:xfrm>
            <a:off x="8458200" y="3086100"/>
            <a:ext cx="365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Experimentation</a:t>
            </a:r>
            <a:endParaRPr lang="en-US" sz="1350" dirty="0"/>
          </a:p>
        </p:txBody>
      </p:sp>
      <p:sp>
        <p:nvSpPr>
          <p:cNvPr id="51" name="Text 19"/>
          <p:cNvSpPr/>
          <p:nvPr/>
        </p:nvSpPr>
        <p:spPr>
          <a:xfrm>
            <a:off x="8458200" y="3390900"/>
            <a:ext cx="3048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Run validation experiments on Torah texts with multi-granularity analysis</a:t>
            </a:r>
            <a:endParaRPr lang="en-US" sz="1200" dirty="0"/>
          </a:p>
        </p:txBody>
      </p:sp>
      <p:sp>
        <p:nvSpPr>
          <p:cNvPr id="52" name="Text 20"/>
          <p:cNvSpPr/>
          <p:nvPr/>
        </p:nvSpPr>
        <p:spPr>
          <a:xfrm>
            <a:off x="8458200" y="4229100"/>
            <a:ext cx="3048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Evaluation</a:t>
            </a:r>
            <a:endParaRPr lang="en-US" sz="1350" dirty="0"/>
          </a:p>
        </p:txBody>
      </p:sp>
      <p:sp>
        <p:nvSpPr>
          <p:cNvPr id="53" name="Text 21"/>
          <p:cNvSpPr/>
          <p:nvPr/>
        </p:nvSpPr>
        <p:spPr>
          <a:xfrm>
            <a:off x="8458200" y="4533900"/>
            <a:ext cx="3048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Assess uncertainty correlation and cluster consistency metrics</a:t>
            </a:r>
            <a:endParaRPr lang="en-US" sz="1200" dirty="0"/>
          </a:p>
        </p:txBody>
      </p:sp>
      <p:sp>
        <p:nvSpPr>
          <p:cNvPr id="54" name="Text 22"/>
          <p:cNvSpPr/>
          <p:nvPr/>
        </p:nvSpPr>
        <p:spPr>
          <a:xfrm>
            <a:off x="533400" y="5867400"/>
            <a:ext cx="111252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Summary:</a:t>
            </a:r>
            <a:r>
              <a:rPr lang="en-US" sz="1200" dirty="0">
                <a:solidFill>
                  <a:srgbClr val="374151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 This project adapts modern NLP techniques to ancient texts, creating a reproducible framework that transforms textual analysis into a scientific, data-driven discipline.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1252</Words>
  <Application>Microsoft Macintosh PowerPoint</Application>
  <PresentationFormat>Widescreen</PresentationFormat>
  <Paragraphs>234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ui-sans-serif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אלכסנדר גרומן</cp:lastModifiedBy>
  <cp:revision>12</cp:revision>
  <dcterms:created xsi:type="dcterms:W3CDTF">2026-01-02T11:10:00Z</dcterms:created>
  <dcterms:modified xsi:type="dcterms:W3CDTF">2026-01-04T11:02:59Z</dcterms:modified>
</cp:coreProperties>
</file>